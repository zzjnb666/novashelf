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各位评委老师好，我今天答辩的题目是 NovaShelf 灵感资料工作台。这是一个基于前后端分离架构的创作素材管理平台，使用 Vue 3、Express 和 MySQL 技术栈开发完成。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将从三个部分展开。第一部分是项目概述，介绍项目背景、技术选型和系统架构。第二部分是系统设计，包括功能模块、数据库和安全设计。第三部分是成果展示，通过系统截图和测试结果说明项目完成情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NovaShelf 是一个面向创作者和学习者的灵感资料管理平台。用户可以在平台上浏览、搜索和管理各类创作素材。系统支持六大资料分类，包括互动剧本、叙事文本、视觉设定、创作工具、声音素材和灵感备忘。用户可以发表资料反馈和评分，管理员可以通过后台进行资料编排和数据看板管理。右侧展示的是系统首页的实际运行界面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项目采用成熟的前后端分离技术栈。前端使用 Vue 3 配合 Vite 构建，Vue Router 管理路由，Axios 封装 HTTP 请求，lucide-vue-next 提供图标库。后端使用 Node.js 和 Express 框架，JWT 和 bcryptjs 处理认证安全，multer 处理文件上传。数据库使用 MySQL，同时保留 mock 数据模式方便演示。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系统采用经典的前后端分离架构。前端 Vite 开发服务器运行在 5173 端口，通过 api 代理访问后端。后端 Express 服务运行在 3000 端口，提供 REST API。数据层支持两种模式，一种是连接 MySQL 数据库，包含用户、资料、反馈和评分四张业务表。另一种是 mock 数据模式，使用内存数据便于演示。上传的封面图片通过 uploads 目录提供静态文件服务。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功能分为三大模块。资料浏览模块支持列表展示、六大分类筛选、关键词搜索、多维度排序和分页。互动功能模块允许用户发表资料反馈、删除自己的反馈，以及对资料进行一到五分的评分，每人每资料限一次。个人中心模块提供注册、登录、JWT 会话保持和页面刷新自动恢复等功能。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后台管理面向管理员角色，包含三个核心模块。资料编排模块支持新增、编辑、删除资料，以及上传封面图片，限制图片类型和 2MB 大小。反馈审核模块可以查看和删除用户反馈。数据看板模块展示用户数、资料数、反馈数、评分数、总访问量、分类分布和访问排行等统计数据。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数据库设计了四张业务表。users 表存储用户账号、bcrypt 哈希密码、角色和头像信息。resources 表存储资料标题、分类、下载链接和访问量。comments 表存储用户反馈，通过外键关联用户和资料，支持级联删除。ratings 表存储评分数据，user_id 和 resource_id 设置唯一约束，防止重复评分。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系统实现了七层安全机制。密码使用 bcryptjs 哈希存储，JWT 密钥从环境变量读取且未配置时拒绝启动。认证方面使用 requireAuth 和 requireAdmin 两级中间件。CORS 采用白名单策略，dotenv 配置文件不提交 Git。文件上传限制图片类型和 2MB 大小。前后端双重表单校验覆盖资料、反馈和评分的输入验证。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这两张截图展示了系统的核心页面。左侧是资料详情页，展示资料信息、用户反馈列表和评分功能。右侧是后台资料管理页面，管理员可以查看资料列表并进行编辑和删除操作。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这两张截图展示了后台管理功能。左侧是数据看板，展示各类统计数据和分类分布。右侧是新增资料表单，管理员填写标题、分类、标签等信息时，系统会进行前后端双重校验。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系统共进行了 14 项接口测试，全部通过。前端 Vite 构建成功转换 1644 个模块。后端健康检查返回 MySQL 模式正常。测试覆盖了健康检查、资源列表和搜索、资源详情和异常处理、管理员和普通用户登录、登录态校验、后台统计、权限控制、输入校验等多个维度。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通过本次实训，我完成了 NovaShelf 灵感资料工作台的全流程开发。项目实现了 Vue 3 加 Express 加 MySQL 的前后端分离架构，掌握了 JWT 认证、权限控制、文件上传处理、数据库四表关联设计等核心技术。同时配套了完整的实训报告、答辩 PPT 和自动化工具链。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以上就是我的答辩内容，感谢各位评委老师的聆听，欢迎提问。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858cb917c654365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68f189525512cd8.png"/>
  <Relationship Id="rId3" Type="http://schemas.openxmlformats.org/officeDocument/2006/relationships/image" Target="../media/image_d85ec8eab4e4de40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7bd563139020a38.png"/>
  <Relationship Id="rId3" Type="http://schemas.openxmlformats.org/officeDocument/2006/relationships/image" Target="../media/image_1354517061374043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D5A3D"/>
                </a:gs>
                <a:gs pos="100000">
                  <a:srgbClr val="1E3D2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4623A">
                    <a:alpha val="18000"/>
                  </a:srgbClr>
                </a:gs>
                <a:gs pos="100000">
                  <a:srgbClr val="C4623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8B6E4E">
                    <a:alpha val="12000"/>
                  </a:srgbClr>
                </a:gs>
                <a:gs pos="100000">
                  <a:srgbClr val="8B6E4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-381000"/>
            <a:ext cx="11430000" cy="7239000"/>
            <a:chOff x="762000" y="-381000"/>
            <a:chExt cx="11430000" cy="7239000"/>
          </a:xfrm>
        </p:grpSpPr>
        <p:sp>
          <p:nvSpPr>
            <p:cNvPr id="6" name="Ellipse 6"/>
            <p:cNvSpPr/>
            <p:nvPr/>
          </p:nvSpPr>
          <p:spPr>
            <a:xfrm>
              <a:off x="8763000" y="-381000"/>
              <a:ext cx="3429000" cy="3429000"/>
            </a:xfrm>
            <a:prstGeom prst="ellipse">
              <a:avLst/>
            </a:prstGeom>
            <a:solidFill>
              <a:srgbClr val="3A7050">
                <a:alpha val="1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4572000"/>
              <a:ext cx="2286000" cy="2286000"/>
            </a:xfrm>
            <a:prstGeom prst="ellipse">
              <a:avLst/>
            </a:prstGeom>
            <a:solidFill>
              <a:srgbClr val="3A7050">
                <a:alpha val="10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304800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C4623A">
                <a:alpha val="8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089660" y="1759268"/>
            <a:ext cx="4023789" cy="2588894"/>
            <a:chOff x="1089660" y="1759268"/>
            <a:chExt cx="4023789" cy="2588894"/>
          </a:xfrm>
        </p:grpSpPr>
        <p:sp>
          <p:nvSpPr>
            <p:cNvPr id="10" name="TextBox 10"/>
            <p:cNvSpPr txBox="1"/>
            <p:nvPr/>
          </p:nvSpPr>
          <p:spPr>
            <a:xfrm>
              <a:off x="1125855" y="1759268"/>
              <a:ext cx="21045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2026 计算机综合实训答辩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9660" y="2404110"/>
              <a:ext cx="2870625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NovaShelf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01090" y="3263265"/>
              <a:ext cx="331822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灵感资料工作台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2045" y="4012882"/>
              <a:ext cx="39914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前后端分离 · Vue 3 + Express + MySQL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27760" y="5334000"/>
            <a:ext cx="4587240" cy="652462"/>
            <a:chOff x="1127760" y="5334000"/>
            <a:chExt cx="4587240" cy="652462"/>
          </a:xfrm>
        </p:grpSpPr>
        <p:sp>
          <p:nvSpPr>
            <p:cNvPr id="15" name="Rectangle 15"/>
            <p:cNvSpPr/>
            <p:nvPr/>
          </p:nvSpPr>
          <p:spPr>
            <a:xfrm>
              <a:off x="1143000" y="5334000"/>
              <a:ext cx="4572000" cy="9525"/>
            </a:xfrm>
            <a:prstGeom prst="rect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27760" y="5490210"/>
              <a:ext cx="26148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华东交通大学 · 信息与软件工程学院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9665" y="5773102"/>
              <a:ext cx="6917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40000"/>
                    </a:srgbClr>
                  </a:solidFill>
                  <a:latin typeface="Arial"/>
                  <a:ea typeface="Microsoft YaHei"/>
                  <a:cs typeface="Arial"/>
                </a:rPr>
                <a:t>2026年6月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941832" cy="656272"/>
            <a:chOff x="571500" y="372428"/>
            <a:chExt cx="941832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7788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CONTENTS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333500"/>
            <a:ext cx="3429000" cy="4000500"/>
            <a:chOff x="571500" y="1333500"/>
            <a:chExt cx="3429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333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2010" y="16421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PART 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1904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57250" y="228600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0105" y="2616518"/>
              <a:ext cx="1234440" cy="960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项目背景与目标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技术栈选型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系统总体架构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3009900" y="4248150"/>
              <a:ext cx="342900" cy="342900"/>
              <a:chOff x="3009900" y="4248150"/>
              <a:chExt cx="3429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009900" y="42481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38100" y="171450"/>
                    </a:moveTo>
                    <a:lnTo>
                      <a:pt x="0" y="171450"/>
                    </a:lnTo>
                    <a:lnTo>
                      <a:pt x="171450" y="0"/>
                    </a:lnTo>
                    <a:lnTo>
                      <a:pt x="342900" y="171450"/>
                    </a:lnTo>
                    <a:lnTo>
                      <a:pt x="304800" y="1714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048000" y="4419600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0" y="0"/>
                    </a:moveTo>
                    <a:lnTo>
                      <a:pt x="0" y="133350"/>
                    </a:lnTo>
                    <a:cubicBezTo>
                      <a:pt x="0" y="154392"/>
                      <a:pt x="17058" y="171450"/>
                      <a:pt x="38100" y="171450"/>
                    </a:cubicBezTo>
                    <a:lnTo>
                      <a:pt x="228600" y="171450"/>
                    </a:lnTo>
                    <a:cubicBezTo>
                      <a:pt x="249642" y="171450"/>
                      <a:pt x="266700" y="154392"/>
                      <a:pt x="266700" y="133350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124200" y="443865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0" y="1524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  <a:cubicBezTo>
                      <a:pt x="97242" y="0"/>
                      <a:pt x="114300" y="17058"/>
                      <a:pt x="114300" y="38100"/>
                    </a:cubicBezTo>
                    <a:lnTo>
                      <a:pt x="114300" y="15240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4381500" y="1333500"/>
            <a:ext cx="3429000" cy="4000500"/>
            <a:chOff x="4381500" y="1333500"/>
            <a:chExt cx="3429000" cy="4000500"/>
          </a:xfrm>
        </p:grpSpPr>
        <p:sp>
          <p:nvSpPr>
            <p:cNvPr id="18" name="Rectangle 18"/>
            <p:cNvSpPr/>
            <p:nvPr/>
          </p:nvSpPr>
          <p:spPr>
            <a:xfrm>
              <a:off x="4381500" y="1333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13335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52010" y="16421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PART 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2485" y="1904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系统设计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67250" y="228600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50105" y="2616518"/>
              <a:ext cx="106299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用户功能模块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后台管理模块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数据库设计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安全设计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811537" y="4239787"/>
              <a:ext cx="359626" cy="359626"/>
              <a:chOff x="6811537" y="4239787"/>
              <a:chExt cx="359626" cy="3596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11537" y="4239787"/>
                <a:ext cx="359626" cy="359626"/>
              </a:xfrm>
              <a:custGeom>
                <a:avLst/>
                <a:gdLst/>
                <a:ahLst/>
                <a:cxnLst/>
                <a:rect l="l" t="t" r="r" b="b"/>
                <a:pathLst>
                  <a:path w="359626" h="359626">
                    <a:moveTo>
                      <a:pt x="147904" y="33452"/>
                    </a:moveTo>
                    <a:cubicBezTo>
                      <a:pt x="156019" y="0"/>
                      <a:pt x="203606" y="0"/>
                      <a:pt x="211722" y="33452"/>
                    </a:cubicBezTo>
                    <a:cubicBezTo>
                      <a:pt x="214191" y="43645"/>
                      <a:pt x="221381" y="52045"/>
                      <a:pt x="231070" y="56059"/>
                    </a:cubicBezTo>
                    <a:cubicBezTo>
                      <a:pt x="240759" y="60074"/>
                      <a:pt x="251783" y="59219"/>
                      <a:pt x="260737" y="53759"/>
                    </a:cubicBezTo>
                    <a:cubicBezTo>
                      <a:pt x="290132" y="35852"/>
                      <a:pt x="323793" y="69494"/>
                      <a:pt x="305886" y="98908"/>
                    </a:cubicBezTo>
                    <a:cubicBezTo>
                      <a:pt x="300434" y="107858"/>
                      <a:pt x="299581" y="118874"/>
                      <a:pt x="303591" y="128557"/>
                    </a:cubicBezTo>
                    <a:cubicBezTo>
                      <a:pt x="307600" y="138240"/>
                      <a:pt x="315991" y="145428"/>
                      <a:pt x="326174" y="147904"/>
                    </a:cubicBezTo>
                    <a:cubicBezTo>
                      <a:pt x="359626" y="156019"/>
                      <a:pt x="359626" y="203606"/>
                      <a:pt x="326174" y="211722"/>
                    </a:cubicBezTo>
                    <a:cubicBezTo>
                      <a:pt x="315981" y="214191"/>
                      <a:pt x="307581" y="221381"/>
                      <a:pt x="303567" y="231070"/>
                    </a:cubicBezTo>
                    <a:cubicBezTo>
                      <a:pt x="299552" y="240759"/>
                      <a:pt x="300407" y="251783"/>
                      <a:pt x="305867" y="260737"/>
                    </a:cubicBezTo>
                    <a:cubicBezTo>
                      <a:pt x="323774" y="290131"/>
                      <a:pt x="290132" y="323793"/>
                      <a:pt x="260718" y="305886"/>
                    </a:cubicBezTo>
                    <a:cubicBezTo>
                      <a:pt x="251768" y="300434"/>
                      <a:pt x="240752" y="299581"/>
                      <a:pt x="231069" y="303591"/>
                    </a:cubicBezTo>
                    <a:cubicBezTo>
                      <a:pt x="221386" y="307600"/>
                      <a:pt x="214198" y="315991"/>
                      <a:pt x="211722" y="326174"/>
                    </a:cubicBezTo>
                    <a:cubicBezTo>
                      <a:pt x="203606" y="359626"/>
                      <a:pt x="156019" y="359626"/>
                      <a:pt x="147904" y="326174"/>
                    </a:cubicBezTo>
                    <a:cubicBezTo>
                      <a:pt x="145435" y="315981"/>
                      <a:pt x="138245" y="307581"/>
                      <a:pt x="128556" y="303567"/>
                    </a:cubicBezTo>
                    <a:cubicBezTo>
                      <a:pt x="118867" y="299552"/>
                      <a:pt x="107843" y="300407"/>
                      <a:pt x="98889" y="305867"/>
                    </a:cubicBezTo>
                    <a:cubicBezTo>
                      <a:pt x="69494" y="323774"/>
                      <a:pt x="35833" y="290131"/>
                      <a:pt x="53740" y="260718"/>
                    </a:cubicBezTo>
                    <a:cubicBezTo>
                      <a:pt x="59192" y="251768"/>
                      <a:pt x="60045" y="240752"/>
                      <a:pt x="56035" y="231069"/>
                    </a:cubicBezTo>
                    <a:cubicBezTo>
                      <a:pt x="52026" y="221386"/>
                      <a:pt x="43635" y="214198"/>
                      <a:pt x="33452" y="211722"/>
                    </a:cubicBezTo>
                    <a:cubicBezTo>
                      <a:pt x="0" y="203606"/>
                      <a:pt x="0" y="156019"/>
                      <a:pt x="33452" y="147904"/>
                    </a:cubicBezTo>
                    <a:cubicBezTo>
                      <a:pt x="43645" y="145435"/>
                      <a:pt x="52045" y="138245"/>
                      <a:pt x="56059" y="128556"/>
                    </a:cubicBezTo>
                    <a:cubicBezTo>
                      <a:pt x="60074" y="118867"/>
                      <a:pt x="59219" y="107843"/>
                      <a:pt x="53759" y="98889"/>
                    </a:cubicBezTo>
                    <a:cubicBezTo>
                      <a:pt x="35852" y="69494"/>
                      <a:pt x="69494" y="35833"/>
                      <a:pt x="98908" y="53740"/>
                    </a:cubicBezTo>
                    <a:cubicBezTo>
                      <a:pt x="117958" y="65322"/>
                      <a:pt x="142646" y="55074"/>
                      <a:pt x="147904" y="33452"/>
                    </a:cubicBez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934200" y="43624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8191500" y="1333500"/>
            <a:ext cx="3429000" cy="4000500"/>
            <a:chOff x="8191500" y="1333500"/>
            <a:chExt cx="3429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8191500" y="13335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91500" y="13335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62010" y="16421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PART 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2485" y="19040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成果展示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477250" y="228600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60105" y="2616518"/>
              <a:ext cx="1062990" cy="960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系统运行截图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测试结果</a:t>
              </a:r>
              <a:r>
                <a:rPr lang="zh-CN" sz="13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0629900" y="4267200"/>
              <a:ext cx="342900" cy="314325"/>
              <a:chOff x="10629900" y="4267200"/>
              <a:chExt cx="342900" cy="3143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629900" y="44196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33350"/>
                    </a:lnTo>
                    <a:cubicBezTo>
                      <a:pt x="114300" y="143871"/>
                      <a:pt x="105771" y="152400"/>
                      <a:pt x="952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858500" y="4343400"/>
                <a:ext cx="1143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286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209550"/>
                    </a:lnTo>
                    <a:cubicBezTo>
                      <a:pt x="114300" y="220071"/>
                      <a:pt x="105771" y="228600"/>
                      <a:pt x="95250" y="228600"/>
                    </a:cubicBezTo>
                    <a:lnTo>
                      <a:pt x="19050" y="228600"/>
                    </a:lnTo>
                    <a:cubicBezTo>
                      <a:pt x="8529" y="228600"/>
                      <a:pt x="0" y="220071"/>
                      <a:pt x="0" y="2095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744200" y="4267200"/>
                <a:ext cx="1143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048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285750"/>
                    </a:lnTo>
                    <a:cubicBezTo>
                      <a:pt x="114300" y="296271"/>
                      <a:pt x="105771" y="304800"/>
                      <a:pt x="95250" y="304800"/>
                    </a:cubicBezTo>
                    <a:lnTo>
                      <a:pt x="19050" y="304800"/>
                    </a:lnTo>
                    <a:cubicBezTo>
                      <a:pt x="8529" y="304800"/>
                      <a:pt x="0" y="296271"/>
                      <a:pt x="0" y="2857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648950" y="45720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</p:grpSp>
      <p:grpSp>
        <p:nvGrpSpPr>
          <p:cNvPr id="42" name="Group 42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40" name="TextBox 40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651064" cy="656272"/>
            <a:chOff x="571500" y="372428"/>
            <a:chExt cx="1651064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4546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PROJECT OVERVIEW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1045" y="1441132"/>
            <a:ext cx="4211955" cy="2102168"/>
            <a:chOff x="741045" y="1441132"/>
            <a:chExt cx="4211955" cy="2102168"/>
          </a:xfrm>
        </p:grpSpPr>
        <p:sp>
          <p:nvSpPr>
            <p:cNvPr id="7" name="TextBox 7"/>
            <p:cNvSpPr txBox="1"/>
            <p:nvPr/>
          </p:nvSpPr>
          <p:spPr>
            <a:xfrm>
              <a:off x="741045" y="1441132"/>
              <a:ext cx="4023360" cy="1021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NovaShelf 是一个面向</a:t>
              </a:r>
              <a:r>
                <a:rPr lang="zh-CN" sz="1650" b="1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创作者和学习者</a:t>
              </a: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的</a:t>
              </a: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灵感资料管理平台，帮助用户浏览、搜索、</a:t>
              </a: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管理各类创作素材与灵感资料。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762250"/>
              <a:ext cx="4191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760" y="3013710"/>
              <a:ext cx="2362200" cy="5295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资料浏览 · 分类筛选 · 关键词搜索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资料反馈 · 用户评分 · 后台管理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905250"/>
            <a:ext cx="3905250" cy="781050"/>
            <a:chOff x="762000" y="3905250"/>
            <a:chExt cx="3905250" cy="781050"/>
          </a:xfrm>
        </p:grpSpPr>
        <p:sp>
          <p:nvSpPr>
            <p:cNvPr id="11" name="Rectangle 11"/>
            <p:cNvSpPr/>
            <p:nvPr/>
          </p:nvSpPr>
          <p:spPr>
            <a:xfrm>
              <a:off x="762000" y="39052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2D5A3D">
                <a:alpha val="8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87755" y="40205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互动剧本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095500" y="39052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2D5A3D">
                <a:alpha val="8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21255" y="40205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叙事文本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29000" y="390525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2D5A3D">
                <a:alpha val="8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54755" y="40205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视觉设定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34340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C4623A">
                <a:alpha val="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7755" y="4458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623A"/>
                  </a:solidFill>
                  <a:latin typeface="Arial"/>
                  <a:ea typeface="Microsoft YaHei"/>
                  <a:cs typeface="Arial"/>
                </a:rPr>
                <a:t>创作工具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95500" y="434340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C4623A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21255" y="4458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623A"/>
                  </a:solidFill>
                  <a:latin typeface="Arial"/>
                  <a:ea typeface="Microsoft YaHei"/>
                  <a:cs typeface="Arial"/>
                </a:rPr>
                <a:t>声音素材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29000" y="4343400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C4623A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54755" y="4458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623A"/>
                  </a:solidFill>
                  <a:latin typeface="Arial"/>
                  <a:ea typeface="Microsoft YaHei"/>
                  <a:cs typeface="Arial"/>
                </a:rPr>
                <a:t>灵感备忘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0" y="1238250"/>
            <a:ext cx="6096000" cy="4953000"/>
            <a:chOff x="5524500" y="1238250"/>
            <a:chExt cx="6096000" cy="4953000"/>
          </a:xfrm>
        </p:grpSpPr>
        <p:sp>
          <p:nvSpPr>
            <p:cNvPr id="24" name="Rectangle 24"/>
            <p:cNvSpPr/>
            <p:nvPr/>
          </p:nvSpPr>
          <p:spPr>
            <a:xfrm>
              <a:off x="5524500" y="1238250"/>
              <a:ext cx="6096000" cy="4953000"/>
            </a:xfrm>
            <a:prstGeom prst="roundRect">
              <a:avLst>
                <a:gd name="adj" fmla="val 2308"/>
              </a:avLst>
            </a:prstGeom>
            <a:solidFill>
              <a:srgbClr val="F5F5F0"/>
            </a:solidFill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8800" y="1352550"/>
              <a:ext cx="5867400" cy="4724400"/>
            </a:xfrm>
            <a:prstGeom prst="roundRect">
              <a:avLst>
                <a:gd name="adj" fmla="val 1612"/>
              </a:avLst>
            </a:prstGeom>
          </p:spPr>
        </p:pic>
      </p:grpSp>
      <p:grpSp>
        <p:nvGrpSpPr>
          <p:cNvPr id="29" name="Group 29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27" name="TextBox 27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637919" cy="656272"/>
            <a:chOff x="571500" y="372428"/>
            <a:chExt cx="1637919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13590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4626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TECHNOLOGY STACK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238250"/>
            <a:ext cx="5429250" cy="4762500"/>
            <a:chOff x="571500" y="1238250"/>
            <a:chExt cx="542925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429250" cy="4762500"/>
            </a:xfrm>
            <a:prstGeom prst="roundRect">
              <a:avLst>
                <a:gd name="adj" fmla="val 2400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38250"/>
              <a:ext cx="5429250" cy="57150"/>
            </a:xfrm>
            <a:prstGeom prst="roundRect">
              <a:avLst>
                <a:gd name="adj" fmla="val 50000"/>
              </a:avLst>
            </a:prstGeom>
            <a:solidFill>
              <a:srgbClr val="2D5A3D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00112" y="1628775"/>
              <a:ext cx="257175" cy="238125"/>
              <a:chOff x="900112" y="1628775"/>
              <a:chExt cx="257175" cy="2381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00112" y="162877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157162"/>
                    </a:lnTo>
                    <a:cubicBezTo>
                      <a:pt x="257175" y="165053"/>
                      <a:pt x="250778" y="171450"/>
                      <a:pt x="24288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7262" y="1857375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5838" y="18002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1562" y="180022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10640" y="1634490"/>
              <a:ext cx="17343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前端 Frontend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57250" y="2190750"/>
              <a:ext cx="4857750" cy="585788"/>
              <a:chOff x="857250" y="2190750"/>
              <a:chExt cx="4857750" cy="585788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857250" y="21907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34415" y="23441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框架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0605" y="2502218"/>
                <a:ext cx="109282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5A3D"/>
                    </a:solidFill>
                    <a:latin typeface="Arial"/>
                    <a:ea typeface="Microsoft YaHei"/>
                    <a:cs typeface="Arial"/>
                  </a:rPr>
                  <a:t>Vue 3 + Vite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57250" y="2857500"/>
              <a:ext cx="4857750" cy="585788"/>
              <a:chOff x="857250" y="2857500"/>
              <a:chExt cx="4857750" cy="585788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57250" y="285750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34415" y="30108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路由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30605" y="3168968"/>
                <a:ext cx="102666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5A3D"/>
                    </a:solidFill>
                    <a:latin typeface="Arial"/>
                    <a:ea typeface="Microsoft YaHei"/>
                    <a:cs typeface="Arial"/>
                  </a:rPr>
                  <a:t>Vue Router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57250" y="3524250"/>
              <a:ext cx="4857750" cy="585788"/>
              <a:chOff x="857250" y="3524250"/>
              <a:chExt cx="4857750" cy="585788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857250" y="35242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34415" y="3677602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HTTP 客户端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0605" y="3835718"/>
                <a:ext cx="50684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5A3D"/>
                    </a:solidFill>
                    <a:latin typeface="Arial"/>
                    <a:ea typeface="Microsoft YaHei"/>
                    <a:cs typeface="Arial"/>
                  </a:rPr>
                  <a:t>Axios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" y="4191000"/>
              <a:ext cx="4857750" cy="585788"/>
              <a:chOff x="857250" y="4191000"/>
              <a:chExt cx="4857750" cy="585788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57250" y="419100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34415" y="43443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图标库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30605" y="4502468"/>
                <a:ext cx="14992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5A3D"/>
                    </a:solidFill>
                    <a:latin typeface="Arial"/>
                    <a:ea typeface="Microsoft YaHei"/>
                    <a:cs typeface="Arial"/>
                  </a:rPr>
                  <a:t>lucide-vue-next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57250" y="4857750"/>
              <a:ext cx="4857750" cy="585788"/>
              <a:chOff x="857250" y="4857750"/>
              <a:chExt cx="4857750" cy="585788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7250" y="48577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34415" y="50111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构建工具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30605" y="5169218"/>
                <a:ext cx="88489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D5A3D"/>
                    </a:solidFill>
                    <a:latin typeface="Arial"/>
                    <a:ea typeface="Microsoft YaHei"/>
                    <a:cs typeface="Arial"/>
                  </a:rPr>
                  <a:t>Vite build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191250" y="1238250"/>
            <a:ext cx="5429250" cy="4762500"/>
            <a:chOff x="6191250" y="1238250"/>
            <a:chExt cx="5429250" cy="4762500"/>
          </a:xfrm>
        </p:grpSpPr>
        <p:sp>
          <p:nvSpPr>
            <p:cNvPr id="36" name="Rectangle 36"/>
            <p:cNvSpPr/>
            <p:nvPr/>
          </p:nvSpPr>
          <p:spPr>
            <a:xfrm>
              <a:off x="6191250" y="1238250"/>
              <a:ext cx="5429250" cy="4762500"/>
            </a:xfrm>
            <a:prstGeom prst="roundRect">
              <a:avLst>
                <a:gd name="adj" fmla="val 2400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238250"/>
              <a:ext cx="5429250" cy="57150"/>
            </a:xfrm>
            <a:prstGeom prst="roundRect">
              <a:avLst>
                <a:gd name="adj" fmla="val 50000"/>
              </a:avLst>
            </a:prstGeom>
            <a:solidFill>
              <a:srgbClr val="C4623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519862" y="1628775"/>
              <a:ext cx="257175" cy="228600"/>
              <a:chOff x="6519862" y="1628775"/>
              <a:chExt cx="257175" cy="228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19862" y="162877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19862" y="1743075"/>
                <a:ext cx="25717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143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71438"/>
                    </a:lnTo>
                    <a:cubicBezTo>
                      <a:pt x="257175" y="95110"/>
                      <a:pt x="237985" y="114300"/>
                      <a:pt x="214312" y="114300"/>
                    </a:cubicBezTo>
                    <a:lnTo>
                      <a:pt x="42862" y="114300"/>
                    </a:lnTo>
                    <a:cubicBezTo>
                      <a:pt x="19190" y="114300"/>
                      <a:pt x="0" y="95110"/>
                      <a:pt x="0" y="714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77012" y="1685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77012" y="180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30390" y="1634490"/>
              <a:ext cx="159571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后端 Backend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477000" y="2190750"/>
              <a:ext cx="4857750" cy="585788"/>
              <a:chOff x="6477000" y="2190750"/>
              <a:chExt cx="4857750" cy="585788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6477000" y="21907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654165" y="23441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框架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50355" y="2502218"/>
                <a:ext cx="16598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623A"/>
                    </a:solidFill>
                    <a:latin typeface="Arial"/>
                    <a:ea typeface="Microsoft YaHei"/>
                    <a:cs typeface="Arial"/>
                  </a:rPr>
                  <a:t>Node.js + Express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77000" y="2857500"/>
              <a:ext cx="4857750" cy="585788"/>
              <a:chOff x="6477000" y="2857500"/>
              <a:chExt cx="4857750" cy="585788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477000" y="285750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654165" y="30108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认证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650355" y="316896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623A"/>
                    </a:solidFill>
                    <a:latin typeface="Arial"/>
                    <a:ea typeface="Microsoft YaHei"/>
                    <a:cs typeface="Arial"/>
                  </a:rPr>
                  <a:t>JWT + bcryptjs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477000" y="3524250"/>
              <a:ext cx="4857750" cy="585788"/>
              <a:chOff x="6477000" y="3524250"/>
              <a:chExt cx="4857750" cy="585788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477000" y="35242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654165" y="36776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文件上传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650355" y="3835718"/>
                <a:ext cx="16976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623A"/>
                    </a:solidFill>
                    <a:latin typeface="Arial"/>
                    <a:ea typeface="Microsoft YaHei"/>
                    <a:cs typeface="Arial"/>
                  </a:rPr>
                  <a:t>multer (2MB 限制)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77000" y="4191000"/>
              <a:ext cx="4857750" cy="585788"/>
              <a:chOff x="6477000" y="4191000"/>
              <a:chExt cx="4857750" cy="585788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477000" y="419100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54165" y="434435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数据库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50355" y="4502468"/>
                <a:ext cx="21797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623A"/>
                    </a:solidFill>
                    <a:latin typeface="Arial"/>
                    <a:ea typeface="Microsoft YaHei"/>
                    <a:cs typeface="Arial"/>
                  </a:rPr>
                  <a:t>MySQL (mysql2) + mock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477000" y="4857750"/>
              <a:ext cx="4857750" cy="585788"/>
              <a:chOff x="6477000" y="4857750"/>
              <a:chExt cx="4857750" cy="585788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6477000" y="4857750"/>
                <a:ext cx="4857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54165" y="50111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配置管理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650355" y="5169218"/>
                <a:ext cx="27467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4623A"/>
                    </a:solidFill>
                    <a:latin typeface="Arial"/>
                    <a:ea typeface="Microsoft YaHei"/>
                    <a:cs typeface="Arial"/>
                  </a:rPr>
                  <a:t>dotenv · .env / .env.example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65" name="TextBox 65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829943" cy="656272"/>
            <a:chOff x="571500" y="372428"/>
            <a:chExt cx="1829943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系统架构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6546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SYSTEM ARCHITECTURE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2667000" cy="2095500"/>
            <a:chOff x="762000" y="1905000"/>
            <a:chExt cx="2667000" cy="20955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2667000" cy="2095500"/>
            </a:xfrm>
            <a:prstGeom prst="roundRect">
              <a:avLst>
                <a:gd name="adj" fmla="val 5455"/>
              </a:avLst>
            </a:prstGeom>
            <a:solidFill>
              <a:srgbClr val="2D5A3D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771650" y="2171700"/>
              <a:ext cx="342900" cy="314325"/>
              <a:chOff x="1771650" y="2171700"/>
              <a:chExt cx="342900" cy="314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771650" y="2171700"/>
                <a:ext cx="3429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286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323850" y="0"/>
                    </a:lnTo>
                    <a:cubicBezTo>
                      <a:pt x="334371" y="0"/>
                      <a:pt x="342900" y="8529"/>
                      <a:pt x="342900" y="19050"/>
                    </a:cubicBezTo>
                    <a:lnTo>
                      <a:pt x="342900" y="209550"/>
                    </a:lnTo>
                    <a:cubicBezTo>
                      <a:pt x="342900" y="220071"/>
                      <a:pt x="334371" y="228600"/>
                      <a:pt x="323850" y="228600"/>
                    </a:cubicBezTo>
                    <a:lnTo>
                      <a:pt x="19050" y="228600"/>
                    </a:lnTo>
                    <a:cubicBezTo>
                      <a:pt x="8529" y="228600"/>
                      <a:pt x="0" y="220071"/>
                      <a:pt x="0" y="2095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847850" y="2476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885950" y="24003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00250" y="24003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20076" y="2679382"/>
              <a:ext cx="11508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Vue 3 前端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24190" y="3061335"/>
              <a:ext cx="11426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Router + Axios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7126" y="3410902"/>
              <a:ext cx="6567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端口 5173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4602" y="3649028"/>
              <a:ext cx="1041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Vite 开发服务器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524250" y="2648902"/>
            <a:ext cx="1238250" cy="303849"/>
            <a:chOff x="3524250" y="2648902"/>
            <a:chExt cx="1238250" cy="303849"/>
          </a:xfrm>
        </p:grpSpPr>
        <p:sp>
          <p:nvSpPr>
            <p:cNvPr id="18" name="Line 18"/>
            <p:cNvSpPr/>
            <p:nvPr/>
          </p:nvSpPr>
          <p:spPr>
            <a:xfrm>
              <a:off x="3524250" y="2952750"/>
              <a:ext cx="1238250" cy="1"/>
            </a:xfrm>
            <a:prstGeom prst="line">
              <a:avLst/>
            </a:prstGeom>
            <a:noFill/>
            <a:ln w="28575">
              <a:solidFill>
                <a:srgbClr val="2D5A3D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32503" y="2648902"/>
              <a:ext cx="621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/api 代理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857750" y="1905000"/>
            <a:ext cx="2667000" cy="2095500"/>
            <a:chOff x="4857750" y="1905000"/>
            <a:chExt cx="2667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4857750" y="1905000"/>
              <a:ext cx="2667000" cy="2095500"/>
            </a:xfrm>
            <a:prstGeom prst="roundRect">
              <a:avLst>
                <a:gd name="adj" fmla="val 5455"/>
              </a:avLst>
            </a:prstGeom>
            <a:solidFill>
              <a:srgbClr val="C4623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867400" y="2171700"/>
              <a:ext cx="342900" cy="304800"/>
              <a:chOff x="5867400" y="2171700"/>
              <a:chExt cx="342900" cy="304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867400" y="21717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867400" y="2324100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95250"/>
                    </a:lnTo>
                    <a:cubicBezTo>
                      <a:pt x="342900" y="126813"/>
                      <a:pt x="317313" y="152400"/>
                      <a:pt x="285750" y="152400"/>
                    </a:cubicBezTo>
                    <a:lnTo>
                      <a:pt x="57150" y="152400"/>
                    </a:lnTo>
                    <a:cubicBezTo>
                      <a:pt x="25587" y="152400"/>
                      <a:pt x="0" y="126813"/>
                      <a:pt x="0" y="952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943600" y="2247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943600" y="2400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459881" y="2679382"/>
              <a:ext cx="1462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Express 后端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23941" y="3061335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REST API + JWT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62876" y="3410902"/>
              <a:ext cx="6567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端口 3000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49349" y="3649028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Arial"/>
                  <a:ea typeface="Microsoft YaHei"/>
                  <a:cs typeface="Arial"/>
                </a:rPr>
                <a:t>multer 文件上传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0" y="2095500"/>
            <a:ext cx="1143000" cy="476250"/>
            <a:chOff x="7620000" y="2095500"/>
            <a:chExt cx="1143000" cy="476250"/>
          </a:xfrm>
        </p:grpSpPr>
        <p:sp>
          <p:nvSpPr>
            <p:cNvPr id="32" name="Line 32"/>
            <p:cNvSpPr/>
            <p:nvPr/>
          </p:nvSpPr>
          <p:spPr>
            <a:xfrm flipV="1">
              <a:off x="7620000" y="2095500"/>
              <a:ext cx="1143000" cy="476250"/>
            </a:xfrm>
            <a:prstGeom prst="line">
              <a:avLst/>
            </a:prstGeom>
            <a:noFill/>
            <a:ln w="28575">
              <a:solidFill>
                <a:srgbClr val="C4623A"/>
              </a:solidFill>
              <a:tailEnd type="triangle" w="lg" len="lg"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620000" y="2952750"/>
            <a:ext cx="1143000" cy="285750"/>
            <a:chOff x="7620000" y="2952750"/>
            <a:chExt cx="1143000" cy="285750"/>
          </a:xfrm>
        </p:grpSpPr>
        <p:sp>
          <p:nvSpPr>
            <p:cNvPr id="34" name="Line 34"/>
            <p:cNvSpPr/>
            <p:nvPr/>
          </p:nvSpPr>
          <p:spPr>
            <a:xfrm>
              <a:off x="7620000" y="2952750"/>
              <a:ext cx="1143000" cy="285750"/>
            </a:xfrm>
            <a:prstGeom prst="line">
              <a:avLst/>
            </a:prstGeom>
            <a:noFill/>
            <a:ln w="28575">
              <a:solidFill>
                <a:srgbClr val="C4623A"/>
              </a:solidFill>
              <a:tailEnd type="triangle" w="lg" len="lg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0" y="3429000"/>
            <a:ext cx="1143000" cy="952500"/>
            <a:chOff x="7620000" y="3429000"/>
            <a:chExt cx="1143000" cy="952500"/>
          </a:xfrm>
        </p:grpSpPr>
        <p:sp>
          <p:nvSpPr>
            <p:cNvPr id="36" name="Line 36"/>
            <p:cNvSpPr/>
            <p:nvPr/>
          </p:nvSpPr>
          <p:spPr>
            <a:xfrm>
              <a:off x="7620000" y="3429000"/>
              <a:ext cx="1143000" cy="952500"/>
            </a:xfrm>
            <a:prstGeom prst="line">
              <a:avLst/>
            </a:prstGeom>
            <a:noFill/>
            <a:ln w="28575">
              <a:solidFill>
                <a:srgbClr val="C4623A"/>
              </a:solidFill>
              <a:tailEnd type="triangle" w="lg" len="lg"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8809744" y="1428750"/>
            <a:ext cx="2764012" cy="1238250"/>
            <a:chOff x="8809744" y="1428750"/>
            <a:chExt cx="2764012" cy="1238250"/>
          </a:xfrm>
        </p:grpSpPr>
        <p:sp>
          <p:nvSpPr>
            <p:cNvPr id="38" name="Rectangle 38"/>
            <p:cNvSpPr/>
            <p:nvPr/>
          </p:nvSpPr>
          <p:spPr>
            <a:xfrm>
              <a:off x="8858250" y="1428750"/>
              <a:ext cx="2667000" cy="1238250"/>
            </a:xfrm>
            <a:prstGeom prst="roundRect">
              <a:avLst>
                <a:gd name="adj" fmla="val 9231"/>
              </a:avLst>
            </a:prstGeom>
            <a:solidFill>
              <a:srgbClr val="F5F5F0"/>
            </a:solidFill>
            <a:ln w="9525">
              <a:solidFill>
                <a:srgbClr val="E0DDD5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9874250" y="1647825"/>
              <a:ext cx="254000" cy="285750"/>
              <a:chOff x="9874250" y="1647825"/>
              <a:chExt cx="254000" cy="2857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874250" y="164782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874250" y="16954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874250" y="17907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565004" y="204501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MySQL 数据库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09744" y="2325052"/>
              <a:ext cx="27640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users / resources / comments / ratings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58250" y="2857500"/>
            <a:ext cx="2667000" cy="1238250"/>
            <a:chOff x="8858250" y="2857500"/>
            <a:chExt cx="2667000" cy="1238250"/>
          </a:xfrm>
        </p:grpSpPr>
        <p:sp>
          <p:nvSpPr>
            <p:cNvPr id="46" name="Rectangle 46"/>
            <p:cNvSpPr/>
            <p:nvPr/>
          </p:nvSpPr>
          <p:spPr>
            <a:xfrm>
              <a:off x="8858250" y="2857500"/>
              <a:ext cx="2667000" cy="1238250"/>
            </a:xfrm>
            <a:prstGeom prst="roundRect">
              <a:avLst>
                <a:gd name="adj" fmla="val 9231"/>
              </a:avLst>
            </a:prstGeom>
            <a:solidFill>
              <a:srgbClr val="F5F5F0"/>
            </a:solidFill>
            <a:ln w="9525">
              <a:solidFill>
                <a:srgbClr val="E0DDD5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858375" y="3092450"/>
              <a:ext cx="285750" cy="254000"/>
              <a:chOff x="9858375" y="3092450"/>
              <a:chExt cx="285750" cy="2540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858375" y="31559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080625" y="31559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969500" y="30924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541376" y="3473768"/>
              <a:ext cx="13007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Mock 数据模式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7817" y="3753802"/>
              <a:ext cx="1587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sampleData.js 内存数据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858250" y="4286250"/>
            <a:ext cx="2667000" cy="1238250"/>
            <a:chOff x="8858250" y="4286250"/>
            <a:chExt cx="2667000" cy="1238250"/>
          </a:xfrm>
        </p:grpSpPr>
        <p:sp>
          <p:nvSpPr>
            <p:cNvPr id="54" name="Rectangle 54"/>
            <p:cNvSpPr/>
            <p:nvPr/>
          </p:nvSpPr>
          <p:spPr>
            <a:xfrm>
              <a:off x="8858250" y="4286250"/>
              <a:ext cx="2667000" cy="1238250"/>
            </a:xfrm>
            <a:prstGeom prst="roundRect">
              <a:avLst>
                <a:gd name="adj" fmla="val 9231"/>
              </a:avLst>
            </a:prstGeom>
            <a:solidFill>
              <a:srgbClr val="F5F5F0"/>
            </a:solidFill>
            <a:ln w="9525">
              <a:solidFill>
                <a:srgbClr val="E0DDD5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874250" y="4521200"/>
              <a:ext cx="254000" cy="269875"/>
              <a:chOff x="9874250" y="4521200"/>
              <a:chExt cx="254000" cy="2698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9874250" y="4727575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lnTo>
                      <a:pt x="0" y="31750"/>
                    </a:lnTo>
                    <a:cubicBezTo>
                      <a:pt x="0" y="49285"/>
                      <a:pt x="14215" y="63500"/>
                      <a:pt x="31750" y="63500"/>
                    </a:cubicBezTo>
                    <a:lnTo>
                      <a:pt x="222250" y="63500"/>
                    </a:lnTo>
                    <a:cubicBezTo>
                      <a:pt x="239785" y="63500"/>
                      <a:pt x="254000" y="49285"/>
                      <a:pt x="254000" y="317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921875" y="4521200"/>
                <a:ext cx="158750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79375">
                    <a:moveTo>
                      <a:pt x="0" y="79375"/>
                    </a:moveTo>
                    <a:lnTo>
                      <a:pt x="79375" y="0"/>
                    </a:lnTo>
                    <a:lnTo>
                      <a:pt x="158750" y="79375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001250" y="45212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9616985" y="490251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uploads 目录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18345" y="51825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封面图片静态服务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837908" y="3188970"/>
            <a:ext cx="610934" cy="182880"/>
            <a:chOff x="3837908" y="3188970"/>
            <a:chExt cx="610934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3837908" y="3188970"/>
              <a:ext cx="6109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HTTP JSON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64" name="TextBox 64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31" grpId="0"/>
      <p:bldP spid="33" grpId="0"/>
      <p:bldP spid="35" grpId="0"/>
      <p:bldP spid="37" grpId="0"/>
      <p:bldP spid="45" grpId="0"/>
      <p:bldP spid="53" grpId="0"/>
      <p:bldP spid="61" grpId="0"/>
      <p:bldP spid="6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2365153" cy="656272"/>
            <a:chOff x="571500" y="372428"/>
            <a:chExt cx="2365153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用户功能模块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USER FEATURES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238250"/>
            <a:ext cx="3524250" cy="4667250"/>
            <a:chOff x="571500" y="1238250"/>
            <a:chExt cx="352425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990725" y="1562100"/>
              <a:ext cx="685800" cy="685800"/>
            </a:xfrm>
            <a:prstGeom prst="ellipse">
              <a:avLst/>
            </a:prstGeom>
            <a:solidFill>
              <a:srgbClr val="2D5A3D">
                <a:alpha val="10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162175" y="1733550"/>
              <a:ext cx="342900" cy="342900"/>
              <a:chOff x="2162175" y="1733550"/>
              <a:chExt cx="3429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162175" y="17335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75" y="1962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850612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资料浏览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047875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61185" y="2918460"/>
              <a:ext cx="944880" cy="1577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资料列表展示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六大分类筛选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关键词搜索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多维度排序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分页浏览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资料详情页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33875" y="1238250"/>
            <a:ext cx="3524250" cy="4667250"/>
            <a:chOff x="4333875" y="1238250"/>
            <a:chExt cx="3524250" cy="4667250"/>
          </a:xfrm>
        </p:grpSpPr>
        <p:sp>
          <p:nvSpPr>
            <p:cNvPr id="16" name="Rectangle 16"/>
            <p:cNvSpPr/>
            <p:nvPr/>
          </p:nvSpPr>
          <p:spPr>
            <a:xfrm>
              <a:off x="4333875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solidFill>
              <a:srgbClr val="C4623A">
                <a:alpha val="10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905043" y="1737836"/>
              <a:ext cx="380314" cy="337128"/>
            </a:xfrm>
            <a:custGeom>
              <a:avLst/>
              <a:gdLst/>
              <a:ahLst/>
              <a:cxnLst/>
              <a:rect l="l" t="t" r="r" b="b"/>
              <a:pathLst>
                <a:path w="380314" h="337128">
                  <a:moveTo>
                    <a:pt x="19507" y="319564"/>
                  </a:moveTo>
                  <a:lnTo>
                    <a:pt x="44272" y="245269"/>
                  </a:lnTo>
                  <a:cubicBezTo>
                    <a:pt x="0" y="179794"/>
                    <a:pt x="17107" y="95307"/>
                    <a:pt x="84277" y="47644"/>
                  </a:cubicBezTo>
                  <a:cubicBezTo>
                    <a:pt x="151447" y="0"/>
                    <a:pt x="247917" y="3905"/>
                    <a:pt x="309924" y="56788"/>
                  </a:cubicBezTo>
                  <a:cubicBezTo>
                    <a:pt x="371932" y="109690"/>
                    <a:pt x="380314" y="195205"/>
                    <a:pt x="329527" y="256832"/>
                  </a:cubicBezTo>
                  <a:cubicBezTo>
                    <a:pt x="278740" y="318459"/>
                    <a:pt x="184461" y="337128"/>
                    <a:pt x="109042" y="300514"/>
                  </a:cubicBezTo>
                  <a:lnTo>
                    <a:pt x="19507" y="319564"/>
                  </a:lnTo>
                </a:path>
              </a:pathLst>
            </a:custGeom>
            <a:noFill/>
            <a:ln w="19050">
              <a:solidFill>
                <a:srgbClr val="C462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12987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互动功能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810250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318760" y="2918460"/>
              <a:ext cx="1554480" cy="13106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发表资料反馈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删除自己的反馈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资料评分 (1-5分)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每人每资料限一次评分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唯一约束防重复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96250" y="1238250"/>
            <a:ext cx="3524250" cy="4667250"/>
            <a:chOff x="8096250" y="1238250"/>
            <a:chExt cx="3524250" cy="4667250"/>
          </a:xfrm>
        </p:grpSpPr>
        <p:sp>
          <p:nvSpPr>
            <p:cNvPr id="23" name="Rectangle 23"/>
            <p:cNvSpPr/>
            <p:nvPr/>
          </p:nvSpPr>
          <p:spPr>
            <a:xfrm>
              <a:off x="8096250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515475" y="1562100"/>
              <a:ext cx="685800" cy="685800"/>
            </a:xfrm>
            <a:prstGeom prst="ellipse">
              <a:avLst/>
            </a:prstGeom>
            <a:solidFill>
              <a:srgbClr val="8B6E4E">
                <a:alpha val="10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744075" y="1733550"/>
              <a:ext cx="228600" cy="342900"/>
              <a:chOff x="9744075" y="1733550"/>
              <a:chExt cx="228600" cy="3429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782175" y="1733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44075" y="196215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375362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个人中心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72625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8B6E4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33535" y="2918460"/>
              <a:ext cx="1249680" cy="1577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用户注册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用户登录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JWT 会话保持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个人资料获取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退出登录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页面刷新自动恢复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32" name="TextBox 32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2365153" cy="656272"/>
            <a:chOff x="571500" y="372428"/>
            <a:chExt cx="2365153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后台管理模块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2146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ADMIN FEATURES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238250"/>
            <a:ext cx="3524250" cy="4667250"/>
            <a:chOff x="571500" y="1238250"/>
            <a:chExt cx="3524250" cy="46672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990725" y="1562100"/>
              <a:ext cx="685800" cy="685800"/>
            </a:xfrm>
            <a:prstGeom prst="ellipse">
              <a:avLst/>
            </a:prstGeom>
            <a:solidFill>
              <a:srgbClr val="2D5A3D">
                <a:alpha val="10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181225" y="1729642"/>
              <a:ext cx="327758" cy="327758"/>
              <a:chOff x="2181225" y="1729642"/>
              <a:chExt cx="327758" cy="32775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181225" y="1809750"/>
                <a:ext cx="2476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47650">
                    <a:moveTo>
                      <a:pt x="5715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209550"/>
                    </a:lnTo>
                    <a:cubicBezTo>
                      <a:pt x="0" y="230592"/>
                      <a:pt x="17058" y="247650"/>
                      <a:pt x="38100" y="247650"/>
                    </a:cubicBezTo>
                    <a:lnTo>
                      <a:pt x="209550" y="247650"/>
                    </a:lnTo>
                    <a:cubicBezTo>
                      <a:pt x="230592" y="247650"/>
                      <a:pt x="247650" y="230592"/>
                      <a:pt x="247650" y="209550"/>
                    </a:cubicBezTo>
                    <a:lnTo>
                      <a:pt x="247650" y="19050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276475" y="1729642"/>
                <a:ext cx="232508" cy="232508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32508">
                    <a:moveTo>
                      <a:pt x="216884" y="72202"/>
                    </a:moveTo>
                    <a:cubicBezTo>
                      <a:pt x="232508" y="56578"/>
                      <a:pt x="232508" y="31247"/>
                      <a:pt x="216884" y="15624"/>
                    </a:cubicBezTo>
                    <a:cubicBezTo>
                      <a:pt x="201261" y="0"/>
                      <a:pt x="175929" y="0"/>
                      <a:pt x="160306" y="15624"/>
                    </a:cubicBezTo>
                    <a:lnTo>
                      <a:pt x="0" y="175358"/>
                    </a:lnTo>
                    <a:lnTo>
                      <a:pt x="0" y="232508"/>
                    </a:lnTo>
                    <a:lnTo>
                      <a:pt x="57150" y="232508"/>
                    </a:lnTo>
                    <a:lnTo>
                      <a:pt x="216884" y="72202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409825" y="1771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0"/>
                    </a:moveTo>
                    <a:lnTo>
                      <a:pt x="57150" y="57150"/>
                    </a:lnTo>
                  </a:path>
                </a:pathLst>
              </a:custGeom>
              <a:noFill/>
              <a:ln w="19050">
                <a:solidFill>
                  <a:srgbClr val="2D5A3D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850612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资料编排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47875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32585" y="2918460"/>
              <a:ext cx="1402080" cy="1577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新增资料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编辑资料信息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删除资料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上传封面图片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限制图片类型 + 2MB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表单双重校验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33875" y="1238250"/>
            <a:ext cx="3524250" cy="4667250"/>
            <a:chOff x="4333875" y="1238250"/>
            <a:chExt cx="3524250" cy="4667250"/>
          </a:xfrm>
        </p:grpSpPr>
        <p:sp>
          <p:nvSpPr>
            <p:cNvPr id="17" name="Rectangle 17"/>
            <p:cNvSpPr/>
            <p:nvPr/>
          </p:nvSpPr>
          <p:spPr>
            <a:xfrm>
              <a:off x="4333875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solidFill>
              <a:srgbClr val="C4623A">
                <a:alpha val="10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905500" y="1809750"/>
              <a:ext cx="381000" cy="190500"/>
              <a:chOff x="5905500" y="1809750"/>
              <a:chExt cx="38100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000750" y="1809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95250" y="1905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905500" y="180975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0" y="95250"/>
                    </a:moveTo>
                    <a:lnTo>
                      <a:pt x="95250" y="190500"/>
                    </a:lnTo>
                    <a:moveTo>
                      <a:pt x="190500" y="9525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C4623A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12987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反馈审核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810250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1160" y="2918460"/>
              <a:ext cx="124968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查看全部用户反馈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删除任意反馈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反馈内容审核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用户管理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238250"/>
            <a:ext cx="3524250" cy="4667250"/>
            <a:chOff x="8096250" y="1238250"/>
            <a:chExt cx="3524250" cy="4667250"/>
          </a:xfrm>
        </p:grpSpPr>
        <p:sp>
          <p:nvSpPr>
            <p:cNvPr id="26" name="Rectangle 26"/>
            <p:cNvSpPr/>
            <p:nvPr/>
          </p:nvSpPr>
          <p:spPr>
            <a:xfrm>
              <a:off x="8096250" y="1238250"/>
              <a:ext cx="3524250" cy="4667250"/>
            </a:xfrm>
            <a:prstGeom prst="roundRect">
              <a:avLst>
                <a:gd name="adj" fmla="val 3243"/>
              </a:avLst>
            </a:prstGeom>
            <a:solidFill>
              <a:srgbClr val="F5F5F0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515475" y="1562100"/>
              <a:ext cx="685800" cy="685800"/>
            </a:xfrm>
            <a:prstGeom prst="ellipse">
              <a:avLst/>
            </a:prstGeom>
            <a:solidFill>
              <a:srgbClr val="8B6E4E">
                <a:alpha val="10000"/>
              </a:srgbClr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686925" y="1752600"/>
              <a:ext cx="342900" cy="314325"/>
              <a:chOff x="9686925" y="1752600"/>
              <a:chExt cx="342900" cy="3143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686925" y="19050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133350"/>
                    </a:lnTo>
                    <a:cubicBezTo>
                      <a:pt x="114300" y="143871"/>
                      <a:pt x="105771" y="152400"/>
                      <a:pt x="952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915525" y="1828800"/>
                <a:ext cx="1143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286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209550"/>
                    </a:lnTo>
                    <a:cubicBezTo>
                      <a:pt x="114300" y="220071"/>
                      <a:pt x="105771" y="228600"/>
                      <a:pt x="95250" y="228600"/>
                    </a:cubicBezTo>
                    <a:lnTo>
                      <a:pt x="19050" y="228600"/>
                    </a:lnTo>
                    <a:cubicBezTo>
                      <a:pt x="8529" y="228600"/>
                      <a:pt x="0" y="220071"/>
                      <a:pt x="0" y="2095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801225" y="1752600"/>
                <a:ext cx="1143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3048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95250" y="0"/>
                    </a:lnTo>
                    <a:cubicBezTo>
                      <a:pt x="105771" y="0"/>
                      <a:pt x="114300" y="8529"/>
                      <a:pt x="114300" y="19050"/>
                    </a:cubicBezTo>
                    <a:lnTo>
                      <a:pt x="114300" y="285750"/>
                    </a:lnTo>
                    <a:cubicBezTo>
                      <a:pt x="114300" y="296271"/>
                      <a:pt x="105771" y="304800"/>
                      <a:pt x="95250" y="304800"/>
                    </a:cubicBezTo>
                    <a:lnTo>
                      <a:pt x="19050" y="304800"/>
                    </a:lnTo>
                    <a:cubicBezTo>
                      <a:pt x="8529" y="304800"/>
                      <a:pt x="0" y="296271"/>
                      <a:pt x="0" y="2857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705975" y="20574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8B6E4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375362" y="2393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数据看板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72625" y="2686050"/>
              <a:ext cx="571500" cy="28575"/>
            </a:xfrm>
            <a:prstGeom prst="roundRect">
              <a:avLst>
                <a:gd name="adj" fmla="val 33333"/>
              </a:avLst>
            </a:prstGeom>
            <a:solidFill>
              <a:srgbClr val="8B6E4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45905" y="2918460"/>
              <a:ext cx="1424940" cy="15773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100"/>
                </a:lnSpc>
              </a:pP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用户数统计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资料数统计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反馈数统计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评分数统计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总访问量</a:t>
              </a:r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分类分布 · 访问排行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37" name="TextBox 37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2008108" cy="656272"/>
            <a:chOff x="571500" y="372428"/>
            <a:chExt cx="2008108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数据库设计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DATABASE DESIGN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14500"/>
            <a:ext cx="3048000" cy="2286000"/>
            <a:chOff x="762000" y="1714500"/>
            <a:chExt cx="3048000" cy="228600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048000" cy="2286000"/>
            </a:xfrm>
            <a:prstGeom prst="roundRect">
              <a:avLst>
                <a:gd name="adj" fmla="val 5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8164" y="1885950"/>
              <a:ext cx="6156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users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190750"/>
              <a:ext cx="3048000" cy="952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240268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92618" y="2418874"/>
              <a:ext cx="1448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INT PK AUTO_INCREMENT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3462" y="26884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username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92618" y="2704624"/>
              <a:ext cx="12729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VARCHAR(50) UNIQUE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3462" y="297418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password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92618" y="2990374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VARCHAR(255) bcrypt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462" y="3259931"/>
              <a:ext cx="3211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role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92618" y="327612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ENUM('user','admin')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3462" y="3545681"/>
              <a:ext cx="5236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avatar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92618" y="3561874"/>
              <a:ext cx="882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VARCHAR(255)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382000" y="1714500"/>
            <a:ext cx="3238500" cy="2286000"/>
            <a:chOff x="8382000" y="1714500"/>
            <a:chExt cx="3238500" cy="2286000"/>
          </a:xfrm>
        </p:grpSpPr>
        <p:sp>
          <p:nvSpPr>
            <p:cNvPr id="21" name="Rectangle 21"/>
            <p:cNvSpPr/>
            <p:nvPr/>
          </p:nvSpPr>
          <p:spPr>
            <a:xfrm>
              <a:off x="8382000" y="1714500"/>
              <a:ext cx="3238500" cy="2286000"/>
            </a:xfrm>
            <a:prstGeom prst="roundRect">
              <a:avLst>
                <a:gd name="adj" fmla="val 5000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62385" y="1885950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resources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82000" y="2190750"/>
              <a:ext cx="3238500" cy="952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53462" y="240268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id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12618" y="2418874"/>
              <a:ext cx="3888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INT PK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53462" y="2688431"/>
              <a:ext cx="3661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title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12618" y="2704624"/>
              <a:ext cx="14874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VARCHAR(100) NOT NULL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53462" y="2974181"/>
              <a:ext cx="6886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category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2618" y="2990374"/>
              <a:ext cx="8113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VARCHAR(50)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3462" y="3259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download_url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12618" y="3276124"/>
              <a:ext cx="882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VARCHAR(255)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53462" y="3545681"/>
              <a:ext cx="8461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view_count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12618" y="3561874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INT DEFAULT 0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476500" y="4476750"/>
            <a:ext cx="3238500" cy="1809750"/>
            <a:chOff x="2476500" y="4476750"/>
            <a:chExt cx="32385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2476500" y="4476750"/>
              <a:ext cx="3238500" cy="1809750"/>
            </a:xfrm>
            <a:prstGeom prst="roundRect">
              <a:avLst>
                <a:gd name="adj" fmla="val 6316"/>
              </a:avLst>
            </a:prstGeom>
            <a:solidFill>
              <a:srgbClr val="8B6E4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72637" y="4648200"/>
              <a:ext cx="10462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comments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476500" y="4953000"/>
              <a:ext cx="3238500" cy="9525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47962" y="5117306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id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07118" y="5133499"/>
              <a:ext cx="3888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INT PK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47962" y="5403056"/>
              <a:ext cx="568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user_id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607118" y="5419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FK → users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47962" y="5688806"/>
              <a:ext cx="8986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resource_id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07118" y="5704999"/>
              <a:ext cx="9608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FK → resources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47962" y="5974556"/>
              <a:ext cx="606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>
                      <a:alphaMod val="90000"/>
                    </a:srgbClr>
                  </a:solidFill>
                  <a:latin typeface="Arial"/>
                  <a:ea typeface="Microsoft YaHei"/>
                  <a:cs typeface="Arial"/>
                </a:rPr>
                <a:t>content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07118" y="599074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TEXT NOT NULL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86500" y="4476750"/>
            <a:ext cx="3238500" cy="1809750"/>
            <a:chOff x="6286500" y="4476750"/>
            <a:chExt cx="3238500" cy="1809750"/>
          </a:xfrm>
        </p:grpSpPr>
        <p:sp>
          <p:nvSpPr>
            <p:cNvPr id="47" name="Rectangle 47"/>
            <p:cNvSpPr/>
            <p:nvPr/>
          </p:nvSpPr>
          <p:spPr>
            <a:xfrm>
              <a:off x="6286500" y="4476750"/>
              <a:ext cx="3238500" cy="1809750"/>
            </a:xfrm>
            <a:prstGeom prst="roundRect">
              <a:avLst>
                <a:gd name="adj" fmla="val 6316"/>
              </a:avLst>
            </a:prstGeom>
            <a:solidFill>
              <a:srgbClr val="F5F5F0"/>
            </a:solidFill>
            <a:ln w="19050">
              <a:solidFill>
                <a:srgbClr val="E0DDD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8653" y="4648200"/>
              <a:ext cx="794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ratings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86500" y="4953000"/>
              <a:ext cx="32385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7962" y="5117306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id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17118" y="5133499"/>
              <a:ext cx="3888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Consolas"/>
                  <a:ea typeface="Microsoft YaHei"/>
                  <a:cs typeface="Consolas"/>
                </a:rPr>
                <a:t>INT PK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57962" y="5403056"/>
              <a:ext cx="568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user_id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17118" y="5419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Consolas"/>
                  <a:ea typeface="Microsoft YaHei"/>
                  <a:cs typeface="Consolas"/>
                </a:rPr>
                <a:t>FK → users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7962" y="5688806"/>
              <a:ext cx="8986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resource_id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17118" y="5704999"/>
              <a:ext cx="9608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Consolas"/>
                  <a:ea typeface="Microsoft YaHei"/>
                  <a:cs typeface="Consolas"/>
                </a:rPr>
                <a:t>FK → resources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57962" y="5974556"/>
              <a:ext cx="4411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score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17118" y="5990749"/>
              <a:ext cx="1318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6B6B"/>
                  </a:solidFill>
                  <a:latin typeface="Consolas"/>
                  <a:ea typeface="Microsoft YaHei"/>
                  <a:cs typeface="Consolas"/>
                </a:rPr>
                <a:t>INT CHECK 1-5 UNIQUE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048000" y="4000500"/>
            <a:ext cx="6096000" cy="476250"/>
            <a:chOff x="3048000" y="4000500"/>
            <a:chExt cx="6096000" cy="476250"/>
          </a:xfrm>
        </p:grpSpPr>
        <p:sp>
          <p:nvSpPr>
            <p:cNvPr id="59" name="Line 59"/>
            <p:cNvSpPr/>
            <p:nvPr/>
          </p:nvSpPr>
          <p:spPr>
            <a:xfrm>
              <a:off x="3048000" y="4000500"/>
              <a:ext cx="571500" cy="476250"/>
            </a:xfrm>
            <a:custGeom>
              <a:avLst/>
              <a:gdLst/>
              <a:ahLst/>
              <a:cxnLst/>
              <a:rect l="l" t="t" r="r" b="b"/>
              <a:pathLst>
                <a:path w="571500" h="476250">
                  <a:moveTo>
                    <a:pt x="0" y="0"/>
                  </a:moveTo>
                  <a:lnTo>
                    <a:pt x="571500" y="476250"/>
                  </a:lnTo>
                </a:path>
              </a:pathLst>
            </a:custGeom>
            <a:noFill/>
            <a:ln w="19050">
              <a:solidFill>
                <a:srgbClr val="6B6B6B"/>
              </a:solidFill>
              <a:prstDash val="dash"/>
            </a:ln>
          </p:spPr>
        </p:sp>
        <p:sp>
          <p:nvSpPr>
            <p:cNvPr id="60" name="Line 60"/>
            <p:cNvSpPr/>
            <p:nvPr/>
          </p:nvSpPr>
          <p:spPr>
            <a:xfrm>
              <a:off x="8477250" y="4000500"/>
              <a:ext cx="666750" cy="476250"/>
            </a:xfrm>
            <a:custGeom>
              <a:avLst/>
              <a:gdLst/>
              <a:ahLst/>
              <a:cxnLst/>
              <a:rect l="l" t="t" r="r" b="b"/>
              <a:pathLst>
                <a:path w="666750" h="476250">
                  <a:moveTo>
                    <a:pt x="66675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6B6B6B"/>
              </a:solidFill>
              <a:prstDash val="dash"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322320" y="4141470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1:N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99195" y="4141470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1:N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64" name="TextBox 64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4" grpId="0"/>
      <p:bldP spid="46" grpId="0"/>
      <p:bldP spid="58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651064" cy="656272"/>
            <a:chOff x="571500" y="372428"/>
            <a:chExt cx="1651064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安全设计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230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SECURITY DESIGN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52500" y="1457325"/>
            <a:ext cx="10287000" cy="4810125"/>
            <a:chOff x="952500" y="1457325"/>
            <a:chExt cx="10287000" cy="4810125"/>
          </a:xfrm>
        </p:grpSpPr>
        <p:grpSp>
          <p:nvGrpSpPr>
            <p:cNvPr id="13" name="Group 13"/>
            <p:cNvGrpSpPr/>
            <p:nvPr/>
          </p:nvGrpSpPr>
          <p:grpSpPr>
            <a:xfrm>
              <a:off x="1023938" y="1457325"/>
              <a:ext cx="3100006" cy="523875"/>
              <a:chOff x="1023938" y="1457325"/>
              <a:chExt cx="3100006" cy="523875"/>
            </a:xfrm>
          </p:grpSpPr>
          <p:grpSp>
            <p:nvGrpSpPr>
              <p:cNvPr id="10" name="Group 10"/>
              <p:cNvGrpSpPr/>
              <p:nvPr/>
            </p:nvGrpSpPr>
            <p:grpSpPr>
              <a:xfrm>
                <a:off x="1023938" y="1519238"/>
                <a:ext cx="200025" cy="257175"/>
                <a:chOff x="1023938" y="1519238"/>
                <a:chExt cx="200025" cy="257175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1023938" y="1633538"/>
                  <a:ext cx="20002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428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71450" y="0"/>
                      </a:lnTo>
                      <a:cubicBezTo>
                        <a:pt x="187232" y="0"/>
                        <a:pt x="200025" y="12793"/>
                        <a:pt x="200025" y="28575"/>
                      </a:cubicBezTo>
                      <a:lnTo>
                        <a:pt x="200025" y="114300"/>
                      </a:lnTo>
                      <a:cubicBezTo>
                        <a:pt x="200025" y="130082"/>
                        <a:pt x="187232" y="142875"/>
                        <a:pt x="171450" y="142875"/>
                      </a:cubicBezTo>
                      <a:lnTo>
                        <a:pt x="28575" y="142875"/>
                      </a:lnTo>
                      <a:cubicBezTo>
                        <a:pt x="12793" y="142875"/>
                        <a:pt x="0" y="130082"/>
                        <a:pt x="0" y="1143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1109662" y="16906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066800" y="15192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114300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ubicBezTo>
                        <a:pt x="88713" y="0"/>
                        <a:pt x="114300" y="25587"/>
                        <a:pt x="114300" y="57150"/>
                      </a:cubicBezTo>
                      <a:lnTo>
                        <a:pt x="114300" y="11430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</p:grpSp>
          <p:sp>
            <p:nvSpPr>
              <p:cNvPr id="11" name="TextBox 11"/>
              <p:cNvSpPr txBox="1"/>
              <p:nvPr/>
            </p:nvSpPr>
            <p:spPr>
              <a:xfrm>
                <a:off x="1457325" y="1457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密码安全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61135" y="1737360"/>
                <a:ext cx="266280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bcryptjs 哈希存储，密码不明文保存</a:t>
                </a:r>
              </a:p>
            </p:txBody>
          </p:sp>
        </p:grpSp>
        <p:sp>
          <p:nvSpPr>
            <p:cNvPr id="14" name="Rectangle 14"/>
            <p:cNvSpPr/>
            <p:nvPr/>
          </p:nvSpPr>
          <p:spPr>
            <a:xfrm>
              <a:off x="952500" y="2095500"/>
              <a:ext cx="10287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76081" y="2314575"/>
              <a:ext cx="4404020" cy="523875"/>
              <a:chOff x="976081" y="2314575"/>
              <a:chExt cx="4404020" cy="523875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976081" y="2376488"/>
                <a:ext cx="279010" cy="257174"/>
                <a:chOff x="976081" y="2376488"/>
                <a:chExt cx="279010" cy="257174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76081" y="2376488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166812" y="2576512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457325" y="2314575"/>
                <a:ext cx="132976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JWT 密钥管理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61135" y="2594610"/>
                <a:ext cx="391896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密钥从 JWT_SECRET 环境变量读取，未配置时拒绝启动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952500" y="2952750"/>
              <a:ext cx="10287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95362" y="3171825"/>
              <a:ext cx="4152710" cy="523875"/>
              <a:chOff x="995362" y="3171825"/>
              <a:chExt cx="4152710" cy="523875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995362" y="3233738"/>
                <a:ext cx="257175" cy="257175"/>
                <a:chOff x="995362" y="3233738"/>
                <a:chExt cx="257175" cy="25717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023938" y="3233738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0" y="57150"/>
                      </a:moveTo>
                      <a:cubicBezTo>
                        <a:pt x="0" y="88713"/>
                        <a:pt x="25587" y="114300"/>
                        <a:pt x="57150" y="114300"/>
                      </a:cubicBez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95362" y="3405188"/>
                  <a:ext cx="17145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85725">
                      <a:moveTo>
                        <a:pt x="0" y="85725"/>
                      </a:move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lnTo>
                        <a:pt x="114300" y="0"/>
                      </a:lnTo>
                      <a:cubicBezTo>
                        <a:pt x="145863" y="0"/>
                        <a:pt x="171450" y="25587"/>
                        <a:pt x="171450" y="57150"/>
                      </a:cubicBezTo>
                      <a:lnTo>
                        <a:pt x="171450" y="85725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81100" y="3235595"/>
                  <a:ext cx="42975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975" h="110728">
                      <a:moveTo>
                        <a:pt x="0" y="0"/>
                      </a:moveTo>
                      <a:cubicBezTo>
                        <a:pt x="25288" y="6475"/>
                        <a:pt x="42975" y="29261"/>
                        <a:pt x="42975" y="55364"/>
                      </a:cubicBezTo>
                      <a:cubicBezTo>
                        <a:pt x="42975" y="81467"/>
                        <a:pt x="25288" y="104253"/>
                        <a:pt x="0" y="110728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209675" y="3407331"/>
                  <a:ext cx="42862" cy="83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83582">
                      <a:moveTo>
                        <a:pt x="42862" y="83582"/>
                      </a:moveTo>
                      <a:lnTo>
                        <a:pt x="42862" y="55007"/>
                      </a:lnTo>
                      <a:cubicBezTo>
                        <a:pt x="42713" y="29069"/>
                        <a:pt x="25115" y="6484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457325" y="31718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权限中间件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61135" y="3451860"/>
                <a:ext cx="36869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requireAuth 登录校验 + requireAdmin 管理员校验</a:t>
                </a:r>
              </a:p>
            </p:txBody>
          </p:sp>
        </p:grpSp>
        <p:sp>
          <p:nvSpPr>
            <p:cNvPr id="30" name="Rectangle 30"/>
            <p:cNvSpPr/>
            <p:nvPr/>
          </p:nvSpPr>
          <p:spPr>
            <a:xfrm>
              <a:off x="952500" y="3810000"/>
              <a:ext cx="10287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89090" y="4029075"/>
              <a:ext cx="3814939" cy="523875"/>
              <a:chOff x="989090" y="4029075"/>
              <a:chExt cx="3814939" cy="523875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989090" y="4084715"/>
                <a:ext cx="269719" cy="269719"/>
                <a:chOff x="989090" y="4084715"/>
                <a:chExt cx="269719" cy="269719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989090" y="4084715"/>
                  <a:ext cx="269719" cy="269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719" h="269719">
                      <a:moveTo>
                        <a:pt x="110928" y="25089"/>
                      </a:moveTo>
                      <a:cubicBezTo>
                        <a:pt x="117015" y="0"/>
                        <a:pt x="152705" y="0"/>
                        <a:pt x="158791" y="25089"/>
                      </a:cubicBezTo>
                      <a:cubicBezTo>
                        <a:pt x="160644" y="32734"/>
                        <a:pt x="166036" y="39034"/>
                        <a:pt x="173302" y="42044"/>
                      </a:cubicBezTo>
                      <a:cubicBezTo>
                        <a:pt x="180569" y="45055"/>
                        <a:pt x="188837" y="44414"/>
                        <a:pt x="195553" y="40319"/>
                      </a:cubicBezTo>
                      <a:cubicBezTo>
                        <a:pt x="217599" y="26889"/>
                        <a:pt x="242845" y="52121"/>
                        <a:pt x="229414" y="74181"/>
                      </a:cubicBezTo>
                      <a:cubicBezTo>
                        <a:pt x="225325" y="80894"/>
                        <a:pt x="224686" y="89155"/>
                        <a:pt x="227693" y="96417"/>
                      </a:cubicBezTo>
                      <a:cubicBezTo>
                        <a:pt x="230700" y="103680"/>
                        <a:pt x="236993" y="109071"/>
                        <a:pt x="244631" y="110928"/>
                      </a:cubicBezTo>
                      <a:cubicBezTo>
                        <a:pt x="269719" y="117015"/>
                        <a:pt x="269719" y="152705"/>
                        <a:pt x="244631" y="158791"/>
                      </a:cubicBezTo>
                      <a:cubicBezTo>
                        <a:pt x="236986" y="160644"/>
                        <a:pt x="230686" y="166036"/>
                        <a:pt x="227675" y="173302"/>
                      </a:cubicBezTo>
                      <a:cubicBezTo>
                        <a:pt x="224664" y="180569"/>
                        <a:pt x="225305" y="188837"/>
                        <a:pt x="229400" y="195553"/>
                      </a:cubicBezTo>
                      <a:cubicBezTo>
                        <a:pt x="242830" y="217599"/>
                        <a:pt x="217599" y="242845"/>
                        <a:pt x="195539" y="229414"/>
                      </a:cubicBezTo>
                      <a:cubicBezTo>
                        <a:pt x="188826" y="225325"/>
                        <a:pt x="180564" y="224686"/>
                        <a:pt x="173302" y="227693"/>
                      </a:cubicBezTo>
                      <a:cubicBezTo>
                        <a:pt x="166040" y="230700"/>
                        <a:pt x="160649" y="236993"/>
                        <a:pt x="158791" y="244631"/>
                      </a:cubicBezTo>
                      <a:cubicBezTo>
                        <a:pt x="152705" y="269719"/>
                        <a:pt x="117015" y="269719"/>
                        <a:pt x="110928" y="244631"/>
                      </a:cubicBezTo>
                      <a:cubicBezTo>
                        <a:pt x="109076" y="236986"/>
                        <a:pt x="103684" y="230686"/>
                        <a:pt x="96417" y="227675"/>
                      </a:cubicBezTo>
                      <a:cubicBezTo>
                        <a:pt x="89150" y="224664"/>
                        <a:pt x="80882" y="225305"/>
                        <a:pt x="74166" y="229400"/>
                      </a:cubicBezTo>
                      <a:cubicBezTo>
                        <a:pt x="52121" y="242830"/>
                        <a:pt x="26875" y="217599"/>
                        <a:pt x="40305" y="195539"/>
                      </a:cubicBezTo>
                      <a:cubicBezTo>
                        <a:pt x="44394" y="188826"/>
                        <a:pt x="45033" y="180564"/>
                        <a:pt x="42026" y="173302"/>
                      </a:cubicBezTo>
                      <a:cubicBezTo>
                        <a:pt x="39019" y="166040"/>
                        <a:pt x="32727" y="160649"/>
                        <a:pt x="25089" y="158791"/>
                      </a:cubicBezTo>
                      <a:cubicBezTo>
                        <a:pt x="0" y="152705"/>
                        <a:pt x="0" y="117015"/>
                        <a:pt x="25089" y="110928"/>
                      </a:cubicBezTo>
                      <a:cubicBezTo>
                        <a:pt x="32734" y="109076"/>
                        <a:pt x="39034" y="103684"/>
                        <a:pt x="42044" y="96417"/>
                      </a:cubicBezTo>
                      <a:cubicBezTo>
                        <a:pt x="45055" y="89150"/>
                        <a:pt x="44414" y="80882"/>
                        <a:pt x="40319" y="74166"/>
                      </a:cubicBezTo>
                      <a:cubicBezTo>
                        <a:pt x="26889" y="52121"/>
                        <a:pt x="52121" y="26875"/>
                        <a:pt x="74181" y="40305"/>
                      </a:cubicBezTo>
                      <a:cubicBezTo>
                        <a:pt x="88468" y="48992"/>
                        <a:pt x="106985" y="41305"/>
                        <a:pt x="110928" y="25089"/>
                      </a:cubicBez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81088" y="417671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cubicBezTo>
                        <a:pt x="0" y="66535"/>
                        <a:pt x="19190" y="85725"/>
                        <a:pt x="42862" y="85725"/>
                      </a:cubicBezTo>
                      <a:cubicBezTo>
                        <a:pt x="66535" y="85725"/>
                        <a:pt x="85725" y="66535"/>
                        <a:pt x="85725" y="42862"/>
                      </a:cubicBezTo>
                      <a:cubicBezTo>
                        <a:pt x="85725" y="19190"/>
                        <a:pt x="66535" y="0"/>
                        <a:pt x="42862" y="0"/>
                      </a:cubicBezTo>
                      <a:cubicBezTo>
                        <a:pt x="19190" y="0"/>
                        <a:pt x="0" y="19190"/>
                        <a:pt x="0" y="42862"/>
                      </a:cubicBez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1457325" y="4029075"/>
                <a:ext cx="1235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CORS 白名单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461135" y="4309110"/>
                <a:ext cx="33428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默认仅允许 localhost:5173，.env 不提交 Git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952500" y="4667250"/>
              <a:ext cx="10287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09650" y="4886325"/>
              <a:ext cx="3730371" cy="523875"/>
              <a:chOff x="1009650" y="4886325"/>
              <a:chExt cx="3730371" cy="523875"/>
            </a:xfrm>
          </p:grpSpPr>
          <p:grpSp>
            <p:nvGrpSpPr>
              <p:cNvPr id="41" name="Group 41"/>
              <p:cNvGrpSpPr/>
              <p:nvPr/>
            </p:nvGrpSpPr>
            <p:grpSpPr>
              <a:xfrm>
                <a:off x="1009650" y="4962525"/>
                <a:ext cx="228600" cy="242887"/>
                <a:chOff x="1009650" y="4962525"/>
                <a:chExt cx="228600" cy="242887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1009650" y="5148262"/>
                  <a:ext cx="2286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57150">
                      <a:moveTo>
                        <a:pt x="0" y="0"/>
                      </a:moveTo>
                      <a:lnTo>
                        <a:pt x="0" y="28575"/>
                      </a:lnTo>
                      <a:cubicBezTo>
                        <a:pt x="0" y="44357"/>
                        <a:pt x="12793" y="57150"/>
                        <a:pt x="28575" y="57150"/>
                      </a:cubicBezTo>
                      <a:lnTo>
                        <a:pt x="200025" y="57150"/>
                      </a:lnTo>
                      <a:cubicBezTo>
                        <a:pt x="215807" y="57150"/>
                        <a:pt x="228600" y="44357"/>
                        <a:pt x="228600" y="28575"/>
                      </a:cubicBez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1052512" y="4962525"/>
                  <a:ext cx="142875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71438">
                      <a:moveTo>
                        <a:pt x="0" y="71438"/>
                      </a:moveTo>
                      <a:lnTo>
                        <a:pt x="71438" y="0"/>
                      </a:lnTo>
                      <a:lnTo>
                        <a:pt x="142875" y="71438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1123950" y="496252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1457325" y="48863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上传安全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461135" y="5166360"/>
                <a:ext cx="32788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限制图片类型 + 2MB 大小，避免任意文件上传</a:t>
                </a:r>
              </a:p>
            </p:txBody>
          </p:sp>
        </p:grpSp>
        <p:sp>
          <p:nvSpPr>
            <p:cNvPr id="45" name="Rectangle 45"/>
            <p:cNvSpPr/>
            <p:nvPr/>
          </p:nvSpPr>
          <p:spPr>
            <a:xfrm>
              <a:off x="952500" y="5524500"/>
              <a:ext cx="10287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81075" y="5743575"/>
              <a:ext cx="4030980" cy="523875"/>
              <a:chOff x="981075" y="5743575"/>
              <a:chExt cx="4030980" cy="523875"/>
            </a:xfrm>
          </p:grpSpPr>
          <p:grpSp>
            <p:nvGrpSpPr>
              <p:cNvPr id="48" name="Group 48"/>
              <p:cNvGrpSpPr/>
              <p:nvPr/>
            </p:nvGrpSpPr>
            <p:grpSpPr>
              <a:xfrm>
                <a:off x="981075" y="5862638"/>
                <a:ext cx="285749" cy="142875"/>
                <a:chOff x="981075" y="5862638"/>
                <a:chExt cx="285749" cy="142875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52512" y="586263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0" y="71438"/>
                      </a:moveTo>
                      <a:lnTo>
                        <a:pt x="71438" y="142875"/>
                      </a:lnTo>
                      <a:lnTo>
                        <a:pt x="214312" y="0"/>
                      </a:lnTo>
                    </a:path>
                  </a:pathLst>
                </a:custGeom>
                <a:noFill/>
                <a:ln w="19050">
                  <a:solidFill>
                    <a:srgbClr val="8B6E4E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81075" y="5862638"/>
                  <a:ext cx="214312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142875">
                      <a:moveTo>
                        <a:pt x="0" y="71438"/>
                      </a:moveTo>
                      <a:lnTo>
                        <a:pt x="71438" y="142875"/>
                      </a:lnTo>
                      <a:moveTo>
                        <a:pt x="142875" y="71438"/>
                      </a:moveTo>
                      <a:lnTo>
                        <a:pt x="214312" y="0"/>
                      </a:lnTo>
                    </a:path>
                  </a:pathLst>
                </a:custGeom>
                <a:noFill/>
                <a:ln w="19050">
                  <a:solidFill>
                    <a:srgbClr val="8B6E4E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457325" y="57435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输入校验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461135" y="602361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前后端双重表单校验，资源、评论、评分均有校验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53" name="TextBox 53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2486025" cy="656272"/>
            <a:chOff x="571500" y="372428"/>
            <a:chExt cx="2486025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系统运行效果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2310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SYSTEM SCREENSHOTS — PART 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5429250" cy="4476750"/>
            <a:chOff x="571500" y="1238250"/>
            <a:chExt cx="5429250" cy="44767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429250" cy="285750"/>
            </a:xfrm>
            <a:prstGeom prst="roundRect">
              <a:avLst>
                <a:gd name="adj" fmla="val 2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05519" y="1334452"/>
              <a:ext cx="27612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首页 — 资料列表 · 分类筛选 · 搜索 · 排序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5429250" cy="4191000"/>
            </a:xfrm>
            <a:prstGeom prst="roundRect">
              <a:avLst>
                <a:gd name="adj" fmla="val 2727"/>
              </a:avLst>
            </a:prstGeom>
            <a:solidFill>
              <a:srgbClr val="F5F5F0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24000"/>
              <a:ext cx="5429250" cy="4191000"/>
            </a:xfrm>
            <a:prstGeom prst="roundRect">
              <a:avLst>
                <a:gd name="adj" fmla="val 2727"/>
              </a:avLst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6191250" y="1238250"/>
            <a:ext cx="5429250" cy="4476750"/>
            <a:chOff x="6191250" y="1238250"/>
            <a:chExt cx="5429250" cy="4476750"/>
          </a:xfrm>
        </p:grpSpPr>
        <p:sp>
          <p:nvSpPr>
            <p:cNvPr id="12" name="Rectangle 12"/>
            <p:cNvSpPr/>
            <p:nvPr/>
          </p:nvSpPr>
          <p:spPr>
            <a:xfrm>
              <a:off x="6191250" y="1238250"/>
              <a:ext cx="5429250" cy="285750"/>
            </a:xfrm>
            <a:prstGeom prst="roundRect">
              <a:avLst>
                <a:gd name="adj" fmla="val 20000"/>
              </a:avLst>
            </a:prstGeom>
            <a:solidFill>
              <a:srgbClr val="C462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03841" y="1334452"/>
              <a:ext cx="20040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后台 — 资料管理 · 编辑 · 删除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524000"/>
              <a:ext cx="5429250" cy="4191000"/>
            </a:xfrm>
            <a:prstGeom prst="roundRect">
              <a:avLst>
                <a:gd name="adj" fmla="val 2727"/>
              </a:avLst>
            </a:prstGeom>
            <a:solidFill>
              <a:srgbClr val="F5F5F0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0" y="1524000"/>
              <a:ext cx="5429250" cy="4191000"/>
            </a:xfrm>
            <a:prstGeom prst="roundRect">
              <a:avLst>
                <a:gd name="adj" fmla="val 2727"/>
              </a:avLst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17" name="TextBox 17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2486025" cy="656272"/>
            <a:chOff x="571500" y="372428"/>
            <a:chExt cx="2486025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后台管理界面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23107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SYSTEM SCREENSHOTS — PART 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238250"/>
            <a:ext cx="5429250" cy="4476750"/>
            <a:chOff x="571500" y="1238250"/>
            <a:chExt cx="5429250" cy="4476750"/>
          </a:xfrm>
        </p:grpSpPr>
        <p:sp>
          <p:nvSpPr>
            <p:cNvPr id="7" name="Rectangle 7"/>
            <p:cNvSpPr/>
            <p:nvPr/>
          </p:nvSpPr>
          <p:spPr>
            <a:xfrm>
              <a:off x="571500" y="1238250"/>
              <a:ext cx="5429250" cy="285750"/>
            </a:xfrm>
            <a:prstGeom prst="roundRect">
              <a:avLst>
                <a:gd name="adj" fmla="val 20000"/>
              </a:avLst>
            </a:prstGeom>
            <a:solidFill>
              <a:srgbClr val="8B6E4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21609" y="1334452"/>
              <a:ext cx="21290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数据看板 — 统计概览 · 分类分布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524000"/>
              <a:ext cx="5429250" cy="4191000"/>
            </a:xfrm>
            <a:prstGeom prst="roundRect">
              <a:avLst>
                <a:gd name="adj" fmla="val 2727"/>
              </a:avLst>
            </a:prstGeom>
            <a:solidFill>
              <a:srgbClr val="F5F5F0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1500" y="1524000"/>
              <a:ext cx="5429250" cy="4191000"/>
            </a:xfrm>
            <a:prstGeom prst="roundRect">
              <a:avLst>
                <a:gd name="adj" fmla="val 2727"/>
              </a:avLst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6191250" y="1238250"/>
            <a:ext cx="5429250" cy="4476750"/>
            <a:chOff x="6191250" y="1238250"/>
            <a:chExt cx="5429250" cy="4476750"/>
          </a:xfrm>
        </p:grpSpPr>
        <p:sp>
          <p:nvSpPr>
            <p:cNvPr id="12" name="Rectangle 12"/>
            <p:cNvSpPr/>
            <p:nvPr/>
          </p:nvSpPr>
          <p:spPr>
            <a:xfrm>
              <a:off x="6191250" y="1238250"/>
              <a:ext cx="5429250" cy="285750"/>
            </a:xfrm>
            <a:prstGeom prst="roundRect">
              <a:avLst>
                <a:gd name="adj" fmla="val 2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72913" y="1334452"/>
              <a:ext cx="1665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新增资料表单 — 表单校验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524000"/>
              <a:ext cx="5429250" cy="4191000"/>
            </a:xfrm>
            <a:prstGeom prst="roundRect">
              <a:avLst>
                <a:gd name="adj" fmla="val 2727"/>
              </a:avLst>
            </a:prstGeom>
            <a:solidFill>
              <a:srgbClr val="F5F5F0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250" y="1524000"/>
              <a:ext cx="5429250" cy="4191000"/>
            </a:xfrm>
            <a:prstGeom prst="roundRect">
              <a:avLst>
                <a:gd name="adj" fmla="val 2727"/>
              </a:avLst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17" name="TextBox 17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651064" cy="656272"/>
            <a:chOff x="571500" y="372428"/>
            <a:chExt cx="1651064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测试结果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0466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TEST RESULTS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238250"/>
            <a:ext cx="11049000" cy="1143000"/>
            <a:chOff x="571500" y="1238250"/>
            <a:chExt cx="11049000" cy="114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238250"/>
              <a:ext cx="2476500" cy="1143000"/>
              <a:chOff x="571500" y="1238250"/>
              <a:chExt cx="2476500" cy="11430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238250"/>
                <a:ext cx="24765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2D5A3D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163294" y="1469708"/>
                <a:ext cx="1292912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14/14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14450" y="2013585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接口测试通过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238500" y="1238250"/>
              <a:ext cx="2476500" cy="1143000"/>
              <a:chOff x="3238500" y="1238250"/>
              <a:chExt cx="2476500" cy="114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238500" y="1238250"/>
                <a:ext cx="24765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C4623A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951584" y="1469708"/>
                <a:ext cx="1050331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1644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981450" y="2013585"/>
                <a:ext cx="9906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模块构建成功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905500" y="1238250"/>
              <a:ext cx="2476500" cy="1143000"/>
              <a:chOff x="5905500" y="1238250"/>
              <a:chExt cx="2476500" cy="1143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905500" y="1238250"/>
                <a:ext cx="24765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8B6E4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409083" y="1469708"/>
                <a:ext cx="1469334" cy="64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MySQL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68440" y="2013585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FFF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数据库连接正常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572500" y="1238250"/>
              <a:ext cx="3048000" cy="1143000"/>
              <a:chOff x="8572500" y="1238250"/>
              <a:chExt cx="3048000" cy="11430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572500" y="1238250"/>
                <a:ext cx="3048000" cy="1143000"/>
              </a:xfrm>
              <a:prstGeom prst="roundRect">
                <a:avLst>
                  <a:gd name="adj" fmla="val 10000"/>
                </a:avLst>
              </a:prstGeom>
              <a:solidFill>
                <a:srgbClr val="F5F5F0"/>
              </a:solidFill>
              <a:ln w="9525">
                <a:solidFill>
                  <a:srgbClr val="E0DDD5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8890000" y="1635125"/>
                <a:ext cx="317500" cy="158750"/>
                <a:chOff x="8890000" y="1635125"/>
                <a:chExt cx="317500" cy="15875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969375" y="1635125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0" y="79375"/>
                      </a:moveTo>
                      <a:lnTo>
                        <a:pt x="79375" y="158750"/>
                      </a:lnTo>
                      <a:lnTo>
                        <a:pt x="238125" y="0"/>
                      </a:lnTo>
                    </a:path>
                  </a:pathLst>
                </a:custGeom>
                <a:noFill/>
                <a:ln w="19050">
                  <a:solidFill>
                    <a:srgbClr val="4CAF50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8890000" y="1635125"/>
                  <a:ext cx="238125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158750">
                      <a:moveTo>
                        <a:pt x="0" y="79375"/>
                      </a:moveTo>
                      <a:lnTo>
                        <a:pt x="79375" y="158750"/>
                      </a:lnTo>
                      <a:moveTo>
                        <a:pt x="158750" y="79375"/>
                      </a:moveTo>
                      <a:lnTo>
                        <a:pt x="238125" y="0"/>
                      </a:lnTo>
                    </a:path>
                  </a:pathLst>
                </a:custGeom>
                <a:noFill/>
                <a:ln w="19050">
                  <a:solidFill>
                    <a:srgbClr val="4CAF50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9355455" y="1583055"/>
                <a:ext cx="1229487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全部通过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366885" y="2013585"/>
                <a:ext cx="181470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前端构建 + 后端健康检查</a:t>
                </a:r>
              </a:p>
            </p:txBody>
          </p:sp>
        </p:grpSp>
      </p:grpSp>
      <p:grpSp>
        <p:nvGrpSpPr>
          <p:cNvPr id="116" name="Group 116"/>
          <p:cNvGrpSpPr/>
          <p:nvPr/>
        </p:nvGrpSpPr>
        <p:grpSpPr>
          <a:xfrm>
            <a:off x="571500" y="2667000"/>
            <a:ext cx="11049000" cy="3619500"/>
            <a:chOff x="571500" y="2667000"/>
            <a:chExt cx="11049000" cy="3619500"/>
          </a:xfrm>
        </p:grpSpPr>
        <p:sp>
          <p:nvSpPr>
            <p:cNvPr id="27" name="Rectangle 27"/>
            <p:cNvSpPr/>
            <p:nvPr/>
          </p:nvSpPr>
          <p:spPr>
            <a:xfrm>
              <a:off x="571500" y="2667000"/>
              <a:ext cx="11049000" cy="3619500"/>
            </a:xfrm>
            <a:prstGeom prst="roundRect">
              <a:avLst>
                <a:gd name="adj" fmla="val 3158"/>
              </a:avLst>
            </a:prstGeom>
            <a:solidFill>
              <a:srgbClr val="F5F5F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71500" y="2667000"/>
              <a:ext cx="11049000" cy="381000"/>
              <a:chOff x="571500" y="2667000"/>
              <a:chExt cx="11049000" cy="381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571500" y="2667000"/>
                <a:ext cx="11049000" cy="381000"/>
              </a:xfrm>
              <a:prstGeom prst="roundRect">
                <a:avLst>
                  <a:gd name="adj" fmla="val 30000"/>
                </a:avLst>
              </a:prstGeom>
              <a:solidFill>
                <a:srgbClr val="2D5A3D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571500" y="2933700"/>
                <a:ext cx="11049000" cy="114300"/>
              </a:xfrm>
              <a:prstGeom prst="rect">
                <a:avLst/>
              </a:prstGeom>
              <a:solidFill>
                <a:srgbClr val="2D5A3D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939165" y="28013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编号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701165" y="28013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模块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225165" y="28013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操作步骤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54165" y="28013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预期结果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130665" y="28013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实际结果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749915" y="28013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940118" y="3180874"/>
              <a:ext cx="10108549" cy="3055620"/>
              <a:chOff x="940118" y="3180874"/>
              <a:chExt cx="10108549" cy="305562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940118" y="31808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TC01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02118" y="3180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健康检查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226118" y="3180874"/>
                <a:ext cx="9998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/api/health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55118" y="31808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200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131618" y="3180874"/>
                <a:ext cx="7593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mode=mysql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750868" y="31808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40118" y="341899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702118" y="3418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资源列表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226118" y="3418999"/>
                <a:ext cx="1747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/api/resources?page=1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55118" y="341899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返回分页资源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31618" y="3418999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 条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750868" y="34189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40118" y="365712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702118" y="36571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搜索排序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226118" y="3657124"/>
                <a:ext cx="21180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keyword=Ren&amp;sortBy=view_count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655118" y="3657124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返回匹配资源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131618" y="3657124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2 条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750868" y="365712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40118" y="389524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TC04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702118" y="3895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资源详情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226118" y="3895249"/>
                <a:ext cx="13899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/api/resources/1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55118" y="3895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返回详情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131618" y="389524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Ren'Py SDK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750868" y="38952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40118" y="41333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TC05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702118" y="41333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异常资源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3226118" y="4133374"/>
                <a:ext cx="1747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/api/resources/999999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655118" y="41333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404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131618" y="41333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404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0750868" y="41333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40118" y="437149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TC06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702118" y="4371499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管理员登录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3226118" y="4371499"/>
                <a:ext cx="18839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POST /api/auth/login (admin)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655118" y="4371499"/>
                <a:ext cx="681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Token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131618" y="4371499"/>
                <a:ext cx="7008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role=admin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0750868" y="43714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40118" y="460962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TC07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702118" y="46096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普通用户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226118" y="4609624"/>
                <a:ext cx="18449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POST /api/auth/login (demo)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655118" y="4609624"/>
                <a:ext cx="6813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Token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131618" y="4609624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role=user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750868" y="460962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40118" y="484774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TC08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702118" y="48477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登录态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3226118" y="4847749"/>
                <a:ext cx="139643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/api/auth/profile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655118" y="48477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返回当前用户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131618" y="484774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username=admin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750868" y="48477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940118" y="50858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TC09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702118" y="5085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后台统计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3226118" y="5085874"/>
                <a:ext cx="13834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/api/admin/stats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6655118" y="5085874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返回统计数据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9131618" y="5085874"/>
                <a:ext cx="8958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资料 8、用户 3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10750868" y="50858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940118" y="532399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TC10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1702118" y="5323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权限控制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3226118" y="5323999"/>
                <a:ext cx="18774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GET /api/admin/users (demo)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6655118" y="532399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普通用户被拒绝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9131618" y="532399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403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0750868" y="53239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940118" y="556212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TC11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1702118" y="55621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输入校验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3226118" y="55621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提交空评论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6655118" y="556212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131618" y="556212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0750868" y="556212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940118" y="580024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TC12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702118" y="5800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评分校验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3226118" y="5800249"/>
                <a:ext cx="82436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提交 score=6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6655118" y="580024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9131618" y="580024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10750868" y="580024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940118" y="6038374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TC13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1702118" y="60383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资源校验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3226118" y="6038374"/>
                <a:ext cx="12079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标题过短 + URL 非法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6655118" y="60383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9131618" y="6038374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返回 400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10750868" y="60383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CAF50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</p:grpSp>
      </p:grpSp>
      <p:grpSp>
        <p:nvGrpSpPr>
          <p:cNvPr id="119" name="Group 119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117" name="TextBox 117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72428"/>
            <a:ext cx="1651064" cy="656272"/>
            <a:chOff x="571500" y="372428"/>
            <a:chExt cx="1651064" cy="656272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47625" cy="342900"/>
            </a:xfrm>
            <a:prstGeom prst="roundRect">
              <a:avLst>
                <a:gd name="adj" fmla="val 40000"/>
              </a:avLst>
            </a:prstGeom>
            <a:solidFill>
              <a:srgbClr val="2D5A3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9615" y="3724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项目总结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784860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6B6B"/>
                  </a:solidFill>
                  <a:latin typeface="Arial"/>
                  <a:ea typeface="Microsoft YaHei"/>
                  <a:cs typeface="Arial"/>
                </a:rPr>
                <a:t>PROJECT SUMMARY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41045" y="1441132"/>
            <a:ext cx="10688955" cy="4083368"/>
            <a:chOff x="741045" y="1441132"/>
            <a:chExt cx="10688955" cy="4083368"/>
          </a:xfrm>
        </p:grpSpPr>
        <p:sp>
          <p:nvSpPr>
            <p:cNvPr id="7" name="TextBox 7"/>
            <p:cNvSpPr txBox="1"/>
            <p:nvPr/>
          </p:nvSpPr>
          <p:spPr>
            <a:xfrm>
              <a:off x="741045" y="1441132"/>
              <a:ext cx="590931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完成了 NovaShelf 灵感资料工作台的</a:t>
              </a:r>
              <a:r>
                <a:rPr lang="zh-CN" sz="1650" b="1" dirty="0">
                  <a:solidFill>
                    <a:srgbClr val="2D5A3D"/>
                  </a:solidFill>
                  <a:latin typeface="Arial"/>
                  <a:ea typeface="Microsoft YaHei"/>
                  <a:cs typeface="Arial"/>
                </a:rPr>
                <a:t>全流程开发</a:t>
              </a: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zh-CN" sz="1650" dirty="0">
                  <a:solidFill>
                    <a:srgbClr val="2C2C2C"/>
                  </a:solidFill>
                  <a:latin typeface="Arial"/>
                  <a:ea typeface="Microsoft YaHei"/>
                  <a:cs typeface="Arial"/>
                </a:rPr>
                <a:t>涵盖需求分析、系统设计、前后端开发、接口联调和测试验证。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571750"/>
              <a:ext cx="10668000" cy="9525"/>
            </a:xfrm>
            <a:prstGeom prst="rect">
              <a:avLst/>
            </a:prstGeom>
            <a:solidFill>
              <a:srgbClr val="E0DDD5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2000" y="2857500"/>
              <a:ext cx="4953000" cy="762000"/>
              <a:chOff x="762000" y="2857500"/>
              <a:chExt cx="4953000" cy="762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2857500"/>
                <a:ext cx="4953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2D5A3D">
                  <a:alpha val="5000"/>
                </a:srgbClr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00125" y="3111500"/>
                <a:ext cx="285750" cy="254000"/>
                <a:chOff x="1000125" y="3111500"/>
                <a:chExt cx="285750" cy="2540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000125" y="317500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63500" y="0"/>
                      </a:moveTo>
                      <a:lnTo>
                        <a:pt x="0" y="63500"/>
                      </a:lnTo>
                      <a:lnTo>
                        <a:pt x="63500" y="12700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22375" y="3175000"/>
                  <a:ext cx="635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27000">
                      <a:moveTo>
                        <a:pt x="0" y="0"/>
                      </a:moveTo>
                      <a:lnTo>
                        <a:pt x="63500" y="63500"/>
                      </a:lnTo>
                      <a:lnTo>
                        <a:pt x="0" y="12700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11250" y="3111500"/>
                  <a:ext cx="63500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54000">
                      <a:moveTo>
                        <a:pt x="63500" y="0"/>
                      </a:moveTo>
                      <a:lnTo>
                        <a:pt x="0" y="25400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459230" y="30927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全栈开发能力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62088" y="3355181"/>
                <a:ext cx="28939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Vue 3 + Express + MySQL 前后端分离架构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905500" y="2857500"/>
              <a:ext cx="4953000" cy="762000"/>
              <a:chOff x="5905500" y="2857500"/>
              <a:chExt cx="4953000" cy="762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905500" y="2857500"/>
                <a:ext cx="4953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623A">
                  <a:alpha val="5000"/>
                </a:srgbClr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122201" y="3095625"/>
                <a:ext cx="310011" cy="285750"/>
                <a:chOff x="6122201" y="3095625"/>
                <a:chExt cx="310011" cy="2857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122201" y="3095625"/>
                  <a:ext cx="310011" cy="283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11" h="283305">
                      <a:moveTo>
                        <a:pt x="155727" y="283305"/>
                      </a:moveTo>
                      <a:cubicBezTo>
                        <a:pt x="56277" y="252478"/>
                        <a:pt x="0" y="147517"/>
                        <a:pt x="29362" y="47625"/>
                      </a:cubicBezTo>
                      <a:cubicBezTo>
                        <a:pt x="78821" y="49888"/>
                        <a:pt x="127218" y="32807"/>
                        <a:pt x="164299" y="0"/>
                      </a:cubicBezTo>
                      <a:cubicBezTo>
                        <a:pt x="201380" y="32807"/>
                        <a:pt x="249778" y="49888"/>
                        <a:pt x="299237" y="47625"/>
                      </a:cubicBezTo>
                      <a:cubicBezTo>
                        <a:pt x="310011" y="84282"/>
                        <a:pt x="309513" y="123332"/>
                        <a:pt x="297808" y="159702"/>
                      </a:cubicBez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334125" y="3317875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0" y="31750"/>
                      </a:moveTo>
                      <a:lnTo>
                        <a:pt x="31750" y="63500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602730" y="30927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安全机制实现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05588" y="3355181"/>
                <a:ext cx="29014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JWT 认证、权限控制、密码哈希、输入校验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62000" y="3810000"/>
              <a:ext cx="4953000" cy="762000"/>
              <a:chOff x="762000" y="3810000"/>
              <a:chExt cx="4953000" cy="762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3810000"/>
                <a:ext cx="4953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8B6E4E">
                  <a:alpha val="5000"/>
                </a:srgbClr>
              </a:solidFill>
              <a:ln>
                <a:noFill/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1016000" y="4064000"/>
                <a:ext cx="254000" cy="269875"/>
                <a:chOff x="1016000" y="4064000"/>
                <a:chExt cx="254000" cy="26987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016000" y="4270375"/>
                  <a:ext cx="2540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63500">
                      <a:moveTo>
                        <a:pt x="0" y="0"/>
                      </a:moveTo>
                      <a:lnTo>
                        <a:pt x="0" y="31750"/>
                      </a:lnTo>
                      <a:cubicBezTo>
                        <a:pt x="0" y="49285"/>
                        <a:pt x="14215" y="63500"/>
                        <a:pt x="31750" y="63500"/>
                      </a:cubicBezTo>
                      <a:lnTo>
                        <a:pt x="222250" y="63500"/>
                      </a:lnTo>
                      <a:cubicBezTo>
                        <a:pt x="239785" y="63500"/>
                        <a:pt x="254000" y="49285"/>
                        <a:pt x="254000" y="31750"/>
                      </a:cubicBezTo>
                      <a:lnTo>
                        <a:pt x="254000" y="0"/>
                      </a:lnTo>
                    </a:path>
                  </a:pathLst>
                </a:custGeom>
                <a:noFill/>
                <a:ln w="19050">
                  <a:solidFill>
                    <a:srgbClr val="8B6E4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63625" y="4064000"/>
                  <a:ext cx="158750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79375">
                      <a:moveTo>
                        <a:pt x="0" y="79375"/>
                      </a:moveTo>
                      <a:lnTo>
                        <a:pt x="79375" y="0"/>
                      </a:lnTo>
                      <a:lnTo>
                        <a:pt x="158750" y="79375"/>
                      </a:lnTo>
                    </a:path>
                  </a:pathLst>
                </a:custGeom>
                <a:noFill/>
                <a:ln w="19050">
                  <a:solidFill>
                    <a:srgbClr val="8B6E4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143000" y="406400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0"/>
                      </a:moveTo>
                      <a:lnTo>
                        <a:pt x="0" y="190500"/>
                      </a:lnTo>
                    </a:path>
                  </a:pathLst>
                </a:custGeom>
                <a:noFill/>
                <a:ln w="19050">
                  <a:solidFill>
                    <a:srgbClr val="8B6E4E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459230" y="40452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文件处理功能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462088" y="4307681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封面上传、类型限制、大小限制、静态服务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905500" y="3810000"/>
              <a:ext cx="4953000" cy="762000"/>
              <a:chOff x="5905500" y="3810000"/>
              <a:chExt cx="4953000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5905500" y="3810000"/>
                <a:ext cx="4953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2D5A3D">
                  <a:alpha val="5000"/>
                </a:srgbClr>
              </a:solidFill>
              <a:ln>
                <a:noFill/>
              </a:ln>
            </p:spPr>
          </p:sp>
          <p:grpSp>
            <p:nvGrpSpPr>
              <p:cNvPr id="36" name="Group 36"/>
              <p:cNvGrpSpPr/>
              <p:nvPr/>
            </p:nvGrpSpPr>
            <p:grpSpPr>
              <a:xfrm>
                <a:off x="6159500" y="4048125"/>
                <a:ext cx="254000" cy="285750"/>
                <a:chOff x="6159500" y="4048125"/>
                <a:chExt cx="254000" cy="2857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159500" y="4048125"/>
                  <a:ext cx="2540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95250">
                      <a:moveTo>
                        <a:pt x="0" y="47625"/>
                      </a:moveTo>
                      <a:cubicBezTo>
                        <a:pt x="0" y="73928"/>
                        <a:pt x="56860" y="95250"/>
                        <a:pt x="127000" y="95250"/>
                      </a:cubicBezTo>
                      <a:cubicBezTo>
                        <a:pt x="197140" y="95250"/>
                        <a:pt x="254000" y="73928"/>
                        <a:pt x="254000" y="47625"/>
                      </a:cubicBezTo>
                      <a:cubicBezTo>
                        <a:pt x="254000" y="21322"/>
                        <a:pt x="197140" y="0"/>
                        <a:pt x="127000" y="0"/>
                      </a:cubicBezTo>
                      <a:cubicBezTo>
                        <a:pt x="56860" y="0"/>
                        <a:pt x="0" y="21322"/>
                        <a:pt x="0" y="47625"/>
                      </a:cubicBez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159500" y="4095750"/>
                  <a:ext cx="2540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0" y="142875"/>
                        <a:pt x="254000" y="121553"/>
                        <a:pt x="254000" y="95250"/>
                      </a:cubicBezTo>
                      <a:lnTo>
                        <a:pt x="254000" y="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159500" y="4191000"/>
                  <a:ext cx="254000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0" h="142875">
                      <a:moveTo>
                        <a:pt x="0" y="0"/>
                      </a:moveTo>
                      <a:lnTo>
                        <a:pt x="0" y="95250"/>
                      </a:lnTo>
                      <a:cubicBezTo>
                        <a:pt x="0" y="121553"/>
                        <a:pt x="56860" y="142875"/>
                        <a:pt x="127000" y="142875"/>
                      </a:cubicBezTo>
                      <a:cubicBezTo>
                        <a:pt x="197140" y="142875"/>
                        <a:pt x="254000" y="121553"/>
                        <a:pt x="254000" y="95250"/>
                      </a:cubicBezTo>
                      <a:lnTo>
                        <a:pt x="254000" y="0"/>
                      </a:lnTo>
                    </a:path>
                  </a:pathLst>
                </a:custGeom>
                <a:noFill/>
                <a:ln w="19050">
                  <a:solidFill>
                    <a:srgbClr val="2D5A3D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6602730" y="40452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数据库设计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05588" y="4307681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四表关联、外键约束、唯一约束、索引优化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62000" y="4762500"/>
              <a:ext cx="10096500" cy="762000"/>
              <a:chOff x="762000" y="4762500"/>
              <a:chExt cx="10096500" cy="7620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62000" y="4762500"/>
                <a:ext cx="100965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C4623A">
                  <a:alpha val="5000"/>
                </a:srgbClr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1031875" y="5000625"/>
                <a:ext cx="222250" cy="285750"/>
                <a:chOff x="1031875" y="5000625"/>
                <a:chExt cx="222250" cy="285750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174750" y="5000625"/>
                  <a:ext cx="79375" cy="7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79375">
                      <a:moveTo>
                        <a:pt x="0" y="0"/>
                      </a:moveTo>
                      <a:lnTo>
                        <a:pt x="0" y="63500"/>
                      </a:lnTo>
                      <a:cubicBezTo>
                        <a:pt x="0" y="72268"/>
                        <a:pt x="7107" y="79375"/>
                        <a:pt x="15875" y="79375"/>
                      </a:cubicBezTo>
                      <a:lnTo>
                        <a:pt x="79375" y="79375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031875" y="5000625"/>
                  <a:ext cx="2222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0" h="285750">
                      <a:moveTo>
                        <a:pt x="190500" y="285750"/>
                      </a:moveTo>
                      <a:lnTo>
                        <a:pt x="31750" y="285750"/>
                      </a:lnTo>
                      <a:cubicBezTo>
                        <a:pt x="14215" y="285750"/>
                        <a:pt x="0" y="271535"/>
                        <a:pt x="0" y="254000"/>
                      </a:cubicBez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42875" y="0"/>
                      </a:lnTo>
                      <a:lnTo>
                        <a:pt x="222250" y="79375"/>
                      </a:lnTo>
                      <a:lnTo>
                        <a:pt x="222250" y="254000"/>
                      </a:lnTo>
                      <a:cubicBezTo>
                        <a:pt x="222250" y="271535"/>
                        <a:pt x="208035" y="285750"/>
                        <a:pt x="190500" y="285750"/>
                      </a:cubicBez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095375" y="5095875"/>
                  <a:ext cx="15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" h="9525">
                      <a:moveTo>
                        <a:pt x="0" y="0"/>
                      </a:moveTo>
                      <a:lnTo>
                        <a:pt x="15875" y="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095375" y="51593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095375" y="52228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C4623A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1459230" y="49977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C2C2C"/>
                    </a:solidFill>
                    <a:latin typeface="Arial"/>
                    <a:ea typeface="Microsoft YaHei"/>
                    <a:cs typeface="Arial"/>
                  </a:rPr>
                  <a:t>配套完整文档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462088" y="5260181"/>
                <a:ext cx="68919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B6B6B"/>
                    </a:solidFill>
                    <a:latin typeface="Arial"/>
                    <a:ea typeface="Microsoft YaHei"/>
                    <a:cs typeface="Arial"/>
                  </a:rPr>
                  <a:t>实训报告（11 张图、9 张表、14 项测试用例）、答辩 PPT、自动化工具链（截图脚本 + 报告生成脚本）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59118" y="6514624"/>
            <a:ext cx="11073764" cy="198120"/>
            <a:chOff x="559118" y="6514624"/>
            <a:chExt cx="11073764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10327457" y="65146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NovaShelf · 实训答辩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9118" y="6514624"/>
              <a:ext cx="1677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D5A3D"/>
                </a:gs>
                <a:gs pos="100000">
                  <a:srgbClr val="1E3D2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4623A">
                    <a:alpha val="15000"/>
                  </a:srgbClr>
                </a:gs>
                <a:gs pos="100000">
                  <a:srgbClr val="C4623A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52500" y="476250"/>
            <a:ext cx="10668000" cy="6286500"/>
            <a:chOff x="952500" y="476250"/>
            <a:chExt cx="10668000" cy="6286500"/>
          </a:xfrm>
        </p:grpSpPr>
        <p:sp>
          <p:nvSpPr>
            <p:cNvPr id="5" name="Ellipse 5"/>
            <p:cNvSpPr/>
            <p:nvPr/>
          </p:nvSpPr>
          <p:spPr>
            <a:xfrm>
              <a:off x="952500" y="476250"/>
              <a:ext cx="1905000" cy="1905000"/>
            </a:xfrm>
            <a:prstGeom prst="ellipse">
              <a:avLst/>
            </a:prstGeom>
            <a:solidFill>
              <a:srgbClr val="3A7050">
                <a:alpha val="12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953500" y="4095750"/>
              <a:ext cx="2667000" cy="2667000"/>
            </a:xfrm>
            <a:prstGeom prst="ellipse">
              <a:avLst/>
            </a:prstGeom>
            <a:solidFill>
              <a:srgbClr val="3A7050">
                <a:alpha val="10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866513" y="2404110"/>
            <a:ext cx="2458974" cy="1224915"/>
            <a:chOff x="4866513" y="2404110"/>
            <a:chExt cx="2458974" cy="1224915"/>
          </a:xfrm>
        </p:grpSpPr>
        <p:sp>
          <p:nvSpPr>
            <p:cNvPr id="8" name="TextBox 8"/>
            <p:cNvSpPr txBox="1"/>
            <p:nvPr/>
          </p:nvSpPr>
          <p:spPr>
            <a:xfrm>
              <a:off x="4866513" y="2404110"/>
              <a:ext cx="245897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谢谢聆听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09260" y="320230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欢迎提问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0" y="4191000"/>
            <a:ext cx="3048000" cy="766762"/>
            <a:chOff x="4572000" y="4191000"/>
            <a:chExt cx="3048000" cy="766762"/>
          </a:xfrm>
        </p:grpSpPr>
        <p:sp>
          <p:nvSpPr>
            <p:cNvPr id="11" name="Rectangle 11"/>
            <p:cNvSpPr/>
            <p:nvPr/>
          </p:nvSpPr>
          <p:spPr>
            <a:xfrm>
              <a:off x="4572000" y="4191000"/>
              <a:ext cx="3048000" cy="9525"/>
            </a:xfrm>
            <a:prstGeom prst="rect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98720" y="44262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NovaShelf 灵感资料工作台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17582" y="4744402"/>
              <a:ext cx="13568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>
                      <a:alphaMod val="40000"/>
                    </a:srgbClr>
                  </a:solidFill>
                  <a:latin typeface="Arial"/>
                  <a:ea typeface="Microsoft YaHei"/>
                  <a:cs typeface="Arial"/>
                </a:rPr>
                <a:t>2026 计算机综合实训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2026-06-18T08:52:06Z</dcterms:created>
  <dcterms:modified xsi:type="dcterms:W3CDTF">2026-06-18T08:52:06Z</dcterms:modified>
  <cp:category/>
  <cp:contentStatus/>
</cp:coreProperties>
</file>